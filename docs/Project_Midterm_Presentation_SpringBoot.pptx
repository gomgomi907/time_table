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960120"/>
            <a:ext cx="475488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3000" b="1" i="0">
                <a:solidFill>
                  <a:srgbClr val="161616"/>
                </a:solidFill>
                <a:latin typeface="Malgun Gothic"/>
              </a:rPr>
              <a:t>AI Schedule Operator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627632"/>
            <a:ext cx="539496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600" b="0" i="0">
                <a:solidFill>
                  <a:srgbClr val="525252"/>
                </a:solidFill>
                <a:latin typeface="Malgun Gothic"/>
              </a:rPr>
              <a:t>AI가 일정 변경 상황에서 다음 행동을 조율 및 제안하는 Spring Boot 기반 개인 스케줄 보조 시스템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514600"/>
            <a:ext cx="256032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0F62FE"/>
                </a:solidFill>
                <a:latin typeface="Malgun Gothic"/>
              </a:rPr>
              <a:t>Project Midterm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5623560"/>
            <a:ext cx="347472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525252"/>
                </a:solidFill>
                <a:latin typeface="Malgun Gothic"/>
              </a:rPr>
              <a:t>소프트웨어공학 / Spring Boot 수업 프로젝트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897880"/>
            <a:ext cx="182880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525252"/>
                </a:solidFill>
                <a:latin typeface="Malgun Gothic"/>
              </a:rPr>
              <a:t>발표자: 이근산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12280" y="1234440"/>
            <a:ext cx="118872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0F62FE"/>
                </a:solidFill>
                <a:latin typeface="Malgun Gothic"/>
              </a:rPr>
              <a:t>핵심 개념</a:t>
            </a:r>
          </a:p>
        </p:txBody>
      </p:sp>
      <p:sp>
        <p:nvSpPr>
          <p:cNvPr id="8" name="Rectangle 7"/>
          <p:cNvSpPr/>
          <p:nvPr/>
        </p:nvSpPr>
        <p:spPr>
          <a:xfrm>
            <a:off x="6812280" y="1572768"/>
            <a:ext cx="4160520" cy="4572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12280" y="1783080"/>
            <a:ext cx="73152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0F62FE"/>
                </a:solidFill>
                <a:latin typeface="Malgun Gothic"/>
              </a:rPr>
              <a:t>입력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80" y="1993392"/>
            <a:ext cx="438912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000" b="1" i="0">
                <a:solidFill>
                  <a:srgbClr val="161616"/>
                </a:solidFill>
                <a:latin typeface="Malgun Gothic"/>
              </a:rPr>
              <a:t>Goal  ·  Event  ·  Inbox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2340864"/>
            <a:ext cx="42062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525252"/>
                </a:solidFill>
                <a:latin typeface="Malgun Gothic"/>
              </a:rPr>
              <a:t>목표, 외부 일정, 미배정 작업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2743200"/>
            <a:ext cx="27432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2200" b="0" i="0">
                <a:solidFill>
                  <a:srgbClr val="525252"/>
                </a:solidFill>
                <a:latin typeface="Malgun Gothic"/>
              </a:rPr>
              <a:t>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60920" y="3127248"/>
            <a:ext cx="2926080" cy="27432"/>
          </a:xfrm>
          <a:prstGeom prst="rect">
            <a:avLst/>
          </a:prstGeom>
          <a:solidFill>
            <a:srgbClr val="004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60920" y="3310128"/>
            <a:ext cx="3108960" cy="32918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161616"/>
                </a:solidFill>
                <a:latin typeface="Malgun Gothic"/>
              </a:rPr>
              <a:t>AI Operator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20" y="3675887"/>
            <a:ext cx="365760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300" b="0" i="0">
                <a:solidFill>
                  <a:srgbClr val="525252"/>
                </a:solidFill>
                <a:latin typeface="Malgun Gothic"/>
              </a:rPr>
              <a:t>오늘 계획 생성 · 재조정안 제안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4160520"/>
            <a:ext cx="27432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2200" b="0" i="0">
                <a:solidFill>
                  <a:srgbClr val="525252"/>
                </a:solidFill>
                <a:latin typeface="Malgun Gothic"/>
              </a:rPr>
              <a:t>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12280" y="4553712"/>
            <a:ext cx="4160520" cy="27432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12280" y="4754880"/>
            <a:ext cx="38404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200" b="1" i="0">
                <a:solidFill>
                  <a:srgbClr val="161616"/>
                </a:solidFill>
                <a:latin typeface="Malgun Gothic"/>
              </a:rPr>
              <a:t>Today Workspace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5102352"/>
            <a:ext cx="429768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300" b="0" i="0">
                <a:solidFill>
                  <a:srgbClr val="525252"/>
                </a:solidFill>
                <a:latin typeface="Malgun Gothic"/>
              </a:rPr>
              <a:t>실행 화면에서 지금 해야 할 일과 다음 행동을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6400800"/>
            <a:ext cx="36576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525252"/>
                </a:solidFill>
                <a:latin typeface="Malgun Gothic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219456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0F62FE"/>
                </a:solidFill>
                <a:latin typeface="Malgun Gothic"/>
              </a:rPr>
              <a:t>SPRING BOOT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731520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161616"/>
                </a:solidFill>
                <a:latin typeface="Malgun Gothic"/>
              </a:rPr>
              <a:t>왜 새로운 일정 앱이 필요한가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16736"/>
            <a:ext cx="7955279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525252"/>
                </a:solidFill>
                <a:latin typeface="Malgun Gothic"/>
              </a:rPr>
              <a:t>일정 관리의 핵심 문제는 계획을 적는 것이 아니라, 흔들린 계획을 다시 운영하는 것이다.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93392"/>
            <a:ext cx="36576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F62FE"/>
                </a:solidFill>
                <a:latin typeface="Malgun Gothic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249424"/>
            <a:ext cx="256032" cy="27432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52728" y="1956816"/>
            <a:ext cx="3877056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700" b="1" i="0">
                <a:solidFill>
                  <a:srgbClr val="161616"/>
                </a:solidFill>
                <a:latin typeface="Malgun Gothic"/>
              </a:rPr>
              <a:t>재조정 피로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52728" y="2176272"/>
            <a:ext cx="3877056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50" b="0" i="0">
                <a:solidFill>
                  <a:srgbClr val="525252"/>
                </a:solidFill>
                <a:latin typeface="Malgun Gothic"/>
              </a:rPr>
              <a:t>일정이 조금만 밀려도 사용자가 직접 다시 짜야 한다.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36576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F62FE"/>
                </a:solidFill>
                <a:latin typeface="Malgun Gothic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227832"/>
            <a:ext cx="256032" cy="27432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52728" y="2935224"/>
            <a:ext cx="3877056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700" b="1" i="0">
                <a:solidFill>
                  <a:srgbClr val="161616"/>
                </a:solidFill>
                <a:latin typeface="Malgun Gothic"/>
              </a:rPr>
              <a:t>도구 분리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2728" y="3154680"/>
            <a:ext cx="3877056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50" b="0" i="0">
                <a:solidFill>
                  <a:srgbClr val="525252"/>
                </a:solidFill>
                <a:latin typeface="Malgun Gothic"/>
              </a:rPr>
              <a:t>Goal, Todo, Calendar가 분리돼 오늘의 현실적인 계획이 잘 안 나온다.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950208"/>
            <a:ext cx="36576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F62FE"/>
                </a:solidFill>
                <a:latin typeface="Malgun Gothic"/>
              </a:rPr>
              <a:t>03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4206240"/>
            <a:ext cx="256032" cy="27432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52728" y="3913632"/>
            <a:ext cx="3877056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700" b="1" i="0">
                <a:solidFill>
                  <a:srgbClr val="161616"/>
                </a:solidFill>
                <a:latin typeface="Malgun Gothic"/>
              </a:rPr>
              <a:t>판단 지연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52728" y="4133088"/>
            <a:ext cx="3877056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50" b="0" i="0">
                <a:solidFill>
                  <a:srgbClr val="525252"/>
                </a:solidFill>
                <a:latin typeface="Malgun Gothic"/>
              </a:rPr>
              <a:t>실행 중 다음 행동을 빨리 결정하지 못해 집중이 더 깨진다.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5392" y="1993392"/>
            <a:ext cx="20116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0F62FE"/>
                </a:solidFill>
                <a:latin typeface="Malgun Gothic"/>
              </a:rPr>
              <a:t>기록 앱 vs 운영 앱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65392" y="2340864"/>
            <a:ext cx="4617720" cy="4572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0840" y="2633472"/>
            <a:ext cx="109728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161616"/>
                </a:solidFill>
                <a:latin typeface="Malgun Gothic"/>
              </a:rPr>
              <a:t>기존 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62288" y="2633472"/>
            <a:ext cx="137160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0F62FE"/>
                </a:solidFill>
                <a:latin typeface="Malgun Gothic"/>
              </a:rPr>
              <a:t>제안 시스템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2971800"/>
            <a:ext cx="1783080" cy="10972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525252"/>
                </a:solidFill>
                <a:latin typeface="Malgun Gothic"/>
              </a:rPr>
              <a:t>일정 기록 중심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25252"/>
                </a:solidFill>
                <a:latin typeface="Malgun Gothic"/>
              </a:rPr>
              <a:t>변경은 수동 처리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25252"/>
                </a:solidFill>
                <a:latin typeface="Malgun Gothic"/>
              </a:rPr>
              <a:t>오늘 실행 판단이 약함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2971800"/>
            <a:ext cx="2011680" cy="10972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525252"/>
                </a:solidFill>
                <a:latin typeface="Malgun Gothic"/>
              </a:rPr>
              <a:t>일정 운영 중심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25252"/>
                </a:solidFill>
                <a:latin typeface="Malgun Gothic"/>
              </a:rPr>
              <a:t>변경안 자동 제안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25252"/>
                </a:solidFill>
                <a:latin typeface="Malgun Gothic"/>
              </a:rPr>
              <a:t>다음 행동 결정 지원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32520" y="2706624"/>
            <a:ext cx="18288" cy="1645920"/>
          </a:xfrm>
          <a:prstGeom prst="rect">
            <a:avLst/>
          </a:prstGeom>
          <a:solidFill>
            <a:srgbClr val="52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65392" y="4645152"/>
            <a:ext cx="4617720" cy="18288"/>
          </a:xfrm>
          <a:prstGeom prst="rect">
            <a:avLst/>
          </a:prstGeom>
          <a:solidFill>
            <a:srgbClr val="52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65392" y="4800600"/>
            <a:ext cx="91440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043CE"/>
                </a:solidFill>
                <a:latin typeface="Malgun Gothic"/>
              </a:rPr>
              <a:t>핵심 질문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60" y="4754880"/>
            <a:ext cx="379476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300" b="0" i="0">
                <a:solidFill>
                  <a:srgbClr val="161616"/>
                </a:solidFill>
                <a:latin typeface="Malgun Gothic"/>
              </a:rPr>
              <a:t>"기록 이후의 운영"을 도와주는 도구가 필요한가?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0" y="6400800"/>
            <a:ext cx="36576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525252"/>
                </a:solidFill>
                <a:latin typeface="Malgun Gothic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219456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0F62FE"/>
                </a:solidFill>
                <a:latin typeface="Malgun Gothic"/>
              </a:rPr>
              <a:t>SPRING BOOT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731520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161616"/>
                </a:solidFill>
                <a:latin typeface="Malgun Gothic"/>
              </a:rPr>
              <a:t>핵심 사용자와 사용 맥락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16736"/>
            <a:ext cx="7955279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525252"/>
                </a:solidFill>
                <a:latin typeface="Malgun Gothic"/>
              </a:rPr>
              <a:t>중간발표에서는 사용자가 누구인지보다, 어떤 운영 문제를 반복해서 겪는지 보여주는 것이 중요하다.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874519"/>
            <a:ext cx="2880360" cy="4572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2048256"/>
            <a:ext cx="288036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800" b="1" i="0">
                <a:solidFill>
                  <a:srgbClr val="161616"/>
                </a:solidFill>
                <a:latin typeface="Malgun Gothic"/>
              </a:rPr>
              <a:t>직장인 사이드빌더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395728"/>
            <a:ext cx="288036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525252"/>
                </a:solidFill>
                <a:latin typeface="Malgun Gothic"/>
              </a:rPr>
              <a:t>퇴근 후 공부와 프로젝트를 병행
저녁 계획이 자주 무너짐</a:t>
            </a:r>
          </a:p>
        </p:txBody>
      </p:sp>
      <p:sp>
        <p:nvSpPr>
          <p:cNvPr id="8" name="Rectangle 7"/>
          <p:cNvSpPr/>
          <p:nvPr/>
        </p:nvSpPr>
        <p:spPr>
          <a:xfrm>
            <a:off x="4005072" y="1874519"/>
            <a:ext cx="2743200" cy="45720"/>
          </a:xfrm>
          <a:prstGeom prst="rect">
            <a:avLst/>
          </a:prstGeom>
          <a:solidFill>
            <a:srgbClr val="004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05072" y="2048256"/>
            <a:ext cx="274320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800" b="1" i="0">
                <a:solidFill>
                  <a:srgbClr val="161616"/>
                </a:solidFill>
                <a:latin typeface="Malgun Gothic"/>
              </a:rPr>
              <a:t>계획형 학생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05072" y="2395728"/>
            <a:ext cx="27432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525252"/>
                </a:solidFill>
                <a:latin typeface="Malgun Gothic"/>
              </a:rPr>
              <a:t>강의·과제·시험 준비를 동시에 관리
주간 목표와 오늘 실행 연결이 약함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50608" y="1874519"/>
            <a:ext cx="3840480" cy="4572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50608" y="2048256"/>
            <a:ext cx="384048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800" b="1" i="0">
                <a:solidFill>
                  <a:srgbClr val="161616"/>
                </a:solidFill>
                <a:latin typeface="Malgun Gothic"/>
              </a:rPr>
              <a:t>취준/포트폴리오형 사용자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50608" y="2395728"/>
            <a:ext cx="384048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525252"/>
                </a:solidFill>
                <a:latin typeface="Malgun Gothic"/>
              </a:rPr>
              <a:t>외부 일정과 자기계발이 섞여 있음
시간 배분보다 재조정이 더 어려움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3218688"/>
            <a:ext cx="10469880" cy="18288"/>
          </a:xfrm>
          <a:prstGeom prst="rect">
            <a:avLst/>
          </a:prstGeom>
          <a:solidFill>
            <a:srgbClr val="52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03904" y="3456432"/>
            <a:ext cx="18288" cy="1828800"/>
          </a:xfrm>
          <a:prstGeom prst="rect">
            <a:avLst/>
          </a:prstGeom>
          <a:solidFill>
            <a:srgbClr val="52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67728" y="3456432"/>
            <a:ext cx="18288" cy="1828800"/>
          </a:xfrm>
          <a:prstGeom prst="rect">
            <a:avLst/>
          </a:prstGeom>
          <a:solidFill>
            <a:srgbClr val="52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474720"/>
            <a:ext cx="1371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161616"/>
                </a:solidFill>
                <a:latin typeface="Malgun Gothic"/>
              </a:rPr>
              <a:t>하루 구조 예시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3858768"/>
            <a:ext cx="2788920" cy="8229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>
                <a:solidFill>
                  <a:srgbClr val="161616"/>
                </a:solidFill>
                <a:latin typeface="Malgun Gothic"/>
              </a:rPr>
              <a:t>1. 오전: 고정 일정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161616"/>
                </a:solidFill>
                <a:latin typeface="Malgun Gothic"/>
              </a:rPr>
              <a:t>2. 낮: 분절된 가용 시간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161616"/>
                </a:solidFill>
                <a:latin typeface="Malgun Gothic"/>
              </a:rPr>
              <a:t>3. 저녁: 핵심 블록 확보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828032"/>
            <a:ext cx="2834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50" b="0" i="0">
                <a:solidFill>
                  <a:srgbClr val="525252"/>
                </a:solidFill>
                <a:latin typeface="Malgun Gothic"/>
              </a:rPr>
              <a:t>통근과 수업/업무로 가용 시간이 파편화된다.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3474720"/>
            <a:ext cx="1371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161616"/>
                </a:solidFill>
                <a:latin typeface="Malgun Gothic"/>
              </a:rPr>
              <a:t>주간 구조 예시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3858768"/>
            <a:ext cx="2560320" cy="8229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>
                <a:solidFill>
                  <a:srgbClr val="161616"/>
                </a:solidFill>
                <a:latin typeface="Malgun Gothic"/>
              </a:rPr>
              <a:t>1. 평일: 밀도 높음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161616"/>
                </a:solidFill>
                <a:latin typeface="Malgun Gothic"/>
              </a:rPr>
              <a:t>2. 주말: 회복과 보충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161616"/>
                </a:solidFill>
                <a:latin typeface="Malgun Gothic"/>
              </a:rPr>
              <a:t>3. 일요일: 재정비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3360" y="4828032"/>
            <a:ext cx="265176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50" b="0" i="0">
                <a:solidFill>
                  <a:srgbClr val="525252"/>
                </a:solidFill>
                <a:latin typeface="Malgun Gothic"/>
              </a:rPr>
              <a:t>주간 리듬이 있어 루틴과 보호 시간이 중요하다.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87184" y="3474720"/>
            <a:ext cx="164592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0043CE"/>
                </a:solidFill>
                <a:latin typeface="Malgun Gothic"/>
              </a:rPr>
              <a:t>대표 실패 시나리오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87184" y="3822191"/>
            <a:ext cx="3657600" cy="10972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525252"/>
                </a:solidFill>
                <a:latin typeface="Malgun Gothic"/>
              </a:rPr>
              <a:t>1. 회의 연장으로 저녁 계획 붕괴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525252"/>
                </a:solidFill>
                <a:latin typeface="Malgun Gothic"/>
              </a:rPr>
              <a:t>2. 현재 작업 초과로 뒤 블록 취소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525252"/>
                </a:solidFill>
                <a:latin typeface="Malgun Gothic"/>
              </a:rPr>
              <a:t>3. 급한 일 유입으로 원래 목표 지연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525252"/>
                </a:solidFill>
                <a:latin typeface="Malgun Gothic"/>
              </a:rPr>
              <a:t>4. 캘린더 누락으로 현실과 계획 불일치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525252"/>
                </a:solidFill>
                <a:latin typeface="Malgun Gothic"/>
              </a:rPr>
              <a:t>5. 후보는 많지만 오늘 할 일 미결정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0" y="6400800"/>
            <a:ext cx="36576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525252"/>
                </a:solidFill>
                <a:latin typeface="Malgun Gothic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219456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0F62FE"/>
                </a:solidFill>
                <a:latin typeface="Malgun Gothic"/>
              </a:rPr>
              <a:t>SPRING BOOT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731520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161616"/>
                </a:solidFill>
                <a:latin typeface="Malgun Gothic"/>
              </a:rPr>
              <a:t>제안 솔루션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16736"/>
            <a:ext cx="7955279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525252"/>
                </a:solidFill>
                <a:latin typeface="Malgun Gothic"/>
              </a:rPr>
              <a:t>목표, 루틴, 외부 일정, 인박스를 한데 모아 AI가 오늘 계획과 재조정안을 제안한다.</a:t>
            </a:r>
          </a:p>
        </p:txBody>
      </p:sp>
      <p:sp>
        <p:nvSpPr>
          <p:cNvPr id="5" name="Oval 4"/>
          <p:cNvSpPr/>
          <p:nvPr/>
        </p:nvSpPr>
        <p:spPr>
          <a:xfrm>
            <a:off x="1417320" y="2057400"/>
            <a:ext cx="438912" cy="438912"/>
          </a:xfrm>
          <a:prstGeom prst="ellipse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2103120"/>
            <a:ext cx="438912" cy="1463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697480"/>
            <a:ext cx="118872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600" b="1" i="0">
                <a:solidFill>
                  <a:srgbClr val="161616"/>
                </a:solidFill>
                <a:latin typeface="Malgun Gothic"/>
              </a:rPr>
              <a:t>입력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35808"/>
            <a:ext cx="146304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200" b="0" i="0">
                <a:solidFill>
                  <a:srgbClr val="525252"/>
                </a:solidFill>
                <a:latin typeface="Malgun Gothic"/>
              </a:rPr>
              <a:t>Goal / Inbox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96312" y="2542032"/>
            <a:ext cx="27432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2000" b="0" i="0">
                <a:solidFill>
                  <a:srgbClr val="525252"/>
                </a:solidFill>
                <a:latin typeface="Malgun Gothic"/>
              </a:rPr>
              <a:t>→</a:t>
            </a:r>
          </a:p>
        </p:txBody>
      </p:sp>
      <p:sp>
        <p:nvSpPr>
          <p:cNvPr id="10" name="Oval 9"/>
          <p:cNvSpPr/>
          <p:nvPr/>
        </p:nvSpPr>
        <p:spPr>
          <a:xfrm>
            <a:off x="3657600" y="2057400"/>
            <a:ext cx="438912" cy="438912"/>
          </a:xfrm>
          <a:prstGeom prst="ellipse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2103120"/>
            <a:ext cx="438912" cy="1463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697480"/>
            <a:ext cx="118872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600" b="1" i="0">
                <a:solidFill>
                  <a:srgbClr val="161616"/>
                </a:solidFill>
                <a:latin typeface="Malgun Gothic"/>
              </a:rPr>
              <a:t>제약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3035808"/>
            <a:ext cx="146304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200" b="0" i="0">
                <a:solidFill>
                  <a:srgbClr val="525252"/>
                </a:solidFill>
                <a:latin typeface="Malgun Gothic"/>
              </a:rPr>
              <a:t>Routine / Calendar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2" y="2542032"/>
            <a:ext cx="27432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2000" b="0" i="0">
                <a:solidFill>
                  <a:srgbClr val="525252"/>
                </a:solidFill>
                <a:latin typeface="Malgun Gothic"/>
              </a:rPr>
              <a:t>→</a:t>
            </a:r>
          </a:p>
        </p:txBody>
      </p:sp>
      <p:sp>
        <p:nvSpPr>
          <p:cNvPr id="15" name="Oval 14"/>
          <p:cNvSpPr/>
          <p:nvPr/>
        </p:nvSpPr>
        <p:spPr>
          <a:xfrm>
            <a:off x="5897880" y="2057400"/>
            <a:ext cx="438912" cy="438912"/>
          </a:xfrm>
          <a:prstGeom prst="ellipse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97880" y="2103120"/>
            <a:ext cx="438912" cy="1463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32120" y="2697480"/>
            <a:ext cx="118872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600" b="1" i="0">
                <a:solidFill>
                  <a:srgbClr val="161616"/>
                </a:solidFill>
                <a:latin typeface="Malgun Gothic"/>
              </a:rPr>
              <a:t>생성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0" y="3035808"/>
            <a:ext cx="146304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200" b="0" i="0">
                <a:solidFill>
                  <a:srgbClr val="525252"/>
                </a:solidFill>
                <a:latin typeface="Malgun Gothic"/>
              </a:rPr>
              <a:t>오늘 계획 초안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76872" y="2542032"/>
            <a:ext cx="27432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2000" b="0" i="0">
                <a:solidFill>
                  <a:srgbClr val="525252"/>
                </a:solidFill>
                <a:latin typeface="Malgun Gothic"/>
              </a:rPr>
              <a:t>→</a:t>
            </a:r>
          </a:p>
        </p:txBody>
      </p:sp>
      <p:sp>
        <p:nvSpPr>
          <p:cNvPr id="20" name="Oval 19"/>
          <p:cNvSpPr/>
          <p:nvPr/>
        </p:nvSpPr>
        <p:spPr>
          <a:xfrm>
            <a:off x="8138160" y="2057400"/>
            <a:ext cx="438912" cy="438912"/>
          </a:xfrm>
          <a:prstGeom prst="ellipse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0" y="2103120"/>
            <a:ext cx="438912" cy="1463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2697480"/>
            <a:ext cx="118872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600" b="1" i="0">
                <a:solidFill>
                  <a:srgbClr val="161616"/>
                </a:solidFill>
                <a:latin typeface="Malgun Gothic"/>
              </a:rPr>
              <a:t>실행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40" y="3035808"/>
            <a:ext cx="146304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200" b="0" i="0">
                <a:solidFill>
                  <a:srgbClr val="525252"/>
                </a:solidFill>
                <a:latin typeface="Malgun Gothic"/>
              </a:rPr>
              <a:t>Today Workspace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7152" y="2542032"/>
            <a:ext cx="27432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2000" b="0" i="0">
                <a:solidFill>
                  <a:srgbClr val="525252"/>
                </a:solidFill>
                <a:latin typeface="Malgun Gothic"/>
              </a:rPr>
              <a:t>→</a:t>
            </a:r>
          </a:p>
        </p:txBody>
      </p:sp>
      <p:sp>
        <p:nvSpPr>
          <p:cNvPr id="25" name="Oval 24"/>
          <p:cNvSpPr/>
          <p:nvPr/>
        </p:nvSpPr>
        <p:spPr>
          <a:xfrm>
            <a:off x="10378440" y="2057400"/>
            <a:ext cx="438912" cy="438912"/>
          </a:xfrm>
          <a:prstGeom prst="ellipse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378440" y="2103120"/>
            <a:ext cx="438912" cy="1463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12680" y="2697480"/>
            <a:ext cx="118872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600" b="1" i="0">
                <a:solidFill>
                  <a:srgbClr val="161616"/>
                </a:solidFill>
                <a:latin typeface="Malgun Gothic"/>
              </a:rPr>
              <a:t>개입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0" y="3035808"/>
            <a:ext cx="146304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200" b="0" i="0">
                <a:solidFill>
                  <a:srgbClr val="525252"/>
                </a:solidFill>
                <a:latin typeface="Malgun Gothic"/>
              </a:rPr>
              <a:t>재조정 제안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97280" y="4480560"/>
            <a:ext cx="9966960" cy="18288"/>
          </a:xfrm>
          <a:prstGeom prst="rect">
            <a:avLst/>
          </a:prstGeom>
          <a:solidFill>
            <a:srgbClr val="52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4663440"/>
            <a:ext cx="1005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0F62FE"/>
                </a:solidFill>
                <a:latin typeface="Malgun Gothic"/>
              </a:rPr>
              <a:t>핵심 원칙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31720" y="4626864"/>
            <a:ext cx="813816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161616"/>
                </a:solidFill>
                <a:latin typeface="Malgun Gothic"/>
              </a:rPr>
              <a:t>AI는 승인 없는 자동 재조정을 하지 않고, 항상 이유와 영향 범위를 함께 설명한다.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0" y="6400800"/>
            <a:ext cx="36576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525252"/>
                </a:solidFill>
                <a:latin typeface="Malgun Gothic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219456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0F62FE"/>
                </a:solidFill>
                <a:latin typeface="Malgun Gothic"/>
              </a:rPr>
              <a:t>SPRING BOOT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731520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161616"/>
                </a:solidFill>
                <a:latin typeface="Malgun Gothic"/>
              </a:rPr>
              <a:t>핵심 기능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16736"/>
            <a:ext cx="7955279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525252"/>
                </a:solidFill>
                <a:latin typeface="Malgun Gothic"/>
              </a:rPr>
              <a:t>중간발표 범위에서는 복잡한 플랫폼보다, 일정 운영에 필요한 최소 기능에 집중한다.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797296" y="1901952"/>
            <a:ext cx="18288" cy="3383280"/>
          </a:xfrm>
          <a:prstGeom prst="rect">
            <a:avLst/>
          </a:prstGeom>
          <a:solidFill>
            <a:srgbClr val="52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93392"/>
            <a:ext cx="36576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F62FE"/>
                </a:solidFill>
                <a:latin typeface="Malgun Gothic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2249424"/>
            <a:ext cx="256032" cy="27432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44168" y="1956816"/>
            <a:ext cx="4014216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700" b="1" i="0">
                <a:solidFill>
                  <a:srgbClr val="161616"/>
                </a:solidFill>
                <a:latin typeface="Malgun Gothic"/>
              </a:rPr>
              <a:t>목표 계획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4168" y="2176272"/>
            <a:ext cx="4014216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50" b="0" i="0">
                <a:solidFill>
                  <a:srgbClr val="525252"/>
                </a:solidFill>
                <a:latin typeface="Malgun Gothic"/>
              </a:rPr>
              <a:t>장기·주간 Goal을 만들고 오늘 후보 작업으로 연결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60" y="1993392"/>
            <a:ext cx="36576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F62FE"/>
                </a:solidFill>
                <a:latin typeface="Malgun Gothic"/>
              </a:rPr>
              <a:t>02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2249424"/>
            <a:ext cx="256032" cy="27432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6248" y="1956816"/>
            <a:ext cx="4059936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700" b="1" i="0">
                <a:solidFill>
                  <a:srgbClr val="161616"/>
                </a:solidFill>
                <a:latin typeface="Malgun Gothic"/>
              </a:rPr>
              <a:t>루틴/외부 일정 수집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6248" y="2176272"/>
            <a:ext cx="4059936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50" b="0" i="0">
                <a:solidFill>
                  <a:srgbClr val="525252"/>
                </a:solidFill>
                <a:latin typeface="Malgun Gothic"/>
              </a:rPr>
              <a:t>RoutineTemplate와 Google Calendar로 보호 시간을 계산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3529584"/>
            <a:ext cx="4572000" cy="18288"/>
          </a:xfrm>
          <a:prstGeom prst="rect">
            <a:avLst/>
          </a:prstGeom>
          <a:solidFill>
            <a:srgbClr val="52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80760" y="3529584"/>
            <a:ext cx="4572000" cy="18288"/>
          </a:xfrm>
          <a:prstGeom prst="rect">
            <a:avLst/>
          </a:prstGeom>
          <a:solidFill>
            <a:srgbClr val="52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822191"/>
            <a:ext cx="36576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F62FE"/>
                </a:solidFill>
                <a:latin typeface="Malgun Gothic"/>
              </a:rPr>
              <a:t>03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4078223"/>
            <a:ext cx="256032" cy="27432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44168" y="3785615"/>
            <a:ext cx="4014216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700" b="1" i="0">
                <a:solidFill>
                  <a:srgbClr val="161616"/>
                </a:solidFill>
                <a:latin typeface="Malgun Gothic"/>
              </a:rPr>
              <a:t>오늘 워크스페이스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005071"/>
            <a:ext cx="4014216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50" b="0" i="0">
                <a:solidFill>
                  <a:srgbClr val="525252"/>
                </a:solidFill>
                <a:latin typeface="Malgun Gothic"/>
              </a:rPr>
              <a:t>FocusSession, 타임라인, 인박스, 목표를 한 화면에 통합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3822191"/>
            <a:ext cx="36576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F62FE"/>
                </a:solidFill>
                <a:latin typeface="Malgun Gothic"/>
              </a:rPr>
              <a:t>04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80760" y="4078223"/>
            <a:ext cx="256032" cy="27432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56248" y="3785615"/>
            <a:ext cx="4059936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700" b="1" i="0">
                <a:solidFill>
                  <a:srgbClr val="161616"/>
                </a:solidFill>
                <a:latin typeface="Malgun Gothic"/>
              </a:rPr>
              <a:t>AI 개입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6248" y="4005071"/>
            <a:ext cx="4059936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50" b="0" i="0">
                <a:solidFill>
                  <a:srgbClr val="525252"/>
                </a:solidFill>
                <a:latin typeface="Malgun Gothic"/>
              </a:rPr>
              <a:t>지연·충돌·빈 시간 발생 시 재조정안을 제안 후 승인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" y="5742432"/>
            <a:ext cx="82296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F62FE"/>
                </a:solidFill>
                <a:latin typeface="Malgun Gothic"/>
              </a:rPr>
              <a:t>범위 통제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83080" y="5705856"/>
            <a:ext cx="905256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525252"/>
                </a:solidFill>
                <a:latin typeface="Malgun Gothic"/>
              </a:rPr>
              <a:t>팀 협업, 마켓플레이스, 통계 리포트는 제외하고 Spring Boot 구현 가능 범위를 우선한다.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0" y="6400800"/>
            <a:ext cx="36576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525252"/>
                </a:solidFill>
                <a:latin typeface="Malgun Gothic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219456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0F62FE"/>
                </a:solidFill>
                <a:latin typeface="Malgun Gothic"/>
              </a:rPr>
              <a:t>SPRING BOOT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731520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161616"/>
                </a:solidFill>
                <a:latin typeface="Malgun Gothic"/>
              </a:rPr>
              <a:t>UI/UX 방향과 메인 화면 목업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16736"/>
            <a:ext cx="7955279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525252"/>
                </a:solidFill>
                <a:latin typeface="Malgun Gothic"/>
              </a:rPr>
              <a:t>Simple is Best, 인지 부하 최소화, F-패턴 배치를 기준으로 메인 화면을 설계했다.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371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0F62FE"/>
                </a:solidFill>
                <a:latin typeface="Malgun Gothic"/>
              </a:rPr>
              <a:t>핵심 UX 원칙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487168"/>
            <a:ext cx="36576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F62FE"/>
                </a:solidFill>
                <a:latin typeface="Malgun Gothic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2743200"/>
            <a:ext cx="256032" cy="27432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16736" y="2450592"/>
            <a:ext cx="1865376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700" b="1" i="0">
                <a:solidFill>
                  <a:srgbClr val="161616"/>
                </a:solidFill>
                <a:latin typeface="Malgun Gothic"/>
              </a:rPr>
              <a:t>Execution First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16736" y="2670048"/>
            <a:ext cx="1865376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50" b="0" i="0">
                <a:solidFill>
                  <a:srgbClr val="525252"/>
                </a:solidFill>
                <a:latin typeface="Malgun Gothic"/>
              </a:rPr>
              <a:t>현재 해야 할 일을 가장 먼저 읽히게 배치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3584448"/>
            <a:ext cx="36576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F62FE"/>
                </a:solidFill>
                <a:latin typeface="Malgun Gothic"/>
              </a:rPr>
              <a:t>02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3840480"/>
            <a:ext cx="256032" cy="27432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16736" y="3547872"/>
            <a:ext cx="1865376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700" b="1" i="0">
                <a:solidFill>
                  <a:srgbClr val="161616"/>
                </a:solidFill>
                <a:latin typeface="Malgun Gothic"/>
              </a:rPr>
              <a:t>Explainable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16736" y="3767328"/>
            <a:ext cx="1865376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50" b="0" i="0">
                <a:solidFill>
                  <a:srgbClr val="525252"/>
                </a:solidFill>
                <a:latin typeface="Malgun Gothic"/>
              </a:rPr>
              <a:t>개입 이유와 영향 범위를 짧게 설명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4681728"/>
            <a:ext cx="36576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F62FE"/>
                </a:solidFill>
                <a:latin typeface="Malgun Gothic"/>
              </a:rPr>
              <a:t>03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" y="4937760"/>
            <a:ext cx="256032" cy="27432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16736" y="4645152"/>
            <a:ext cx="1865376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700" b="1" i="0">
                <a:solidFill>
                  <a:srgbClr val="161616"/>
                </a:solidFill>
                <a:latin typeface="Malgun Gothic"/>
              </a:rPr>
              <a:t>Recovery UI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16736" y="4864608"/>
            <a:ext cx="1865376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50" b="0" i="0">
                <a:solidFill>
                  <a:srgbClr val="525252"/>
                </a:solidFill>
                <a:latin typeface="Malgun Gothic"/>
              </a:rPr>
              <a:t>문제보다 다음 행동을 먼저 보여줌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30752" y="1920240"/>
            <a:ext cx="18288" cy="4160520"/>
          </a:xfrm>
          <a:prstGeom prst="rect">
            <a:avLst/>
          </a:prstGeom>
          <a:solidFill>
            <a:srgbClr val="52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today_workspace_m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9080" y="2011680"/>
            <a:ext cx="6812280" cy="3822191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4069080" y="5925312"/>
            <a:ext cx="6812280" cy="18288"/>
          </a:xfrm>
          <a:prstGeom prst="rect">
            <a:avLst/>
          </a:prstGeom>
          <a:solidFill>
            <a:srgbClr val="52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60520" y="5980176"/>
            <a:ext cx="658368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100" b="0" i="0">
                <a:solidFill>
                  <a:srgbClr val="525252"/>
                </a:solidFill>
                <a:latin typeface="Malgun Gothic"/>
              </a:rPr>
              <a:t>① 포커스 보드   ② AI 개입 카드   ③ 오늘 타임라인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0" y="6400800"/>
            <a:ext cx="36576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525252"/>
                </a:solidFill>
                <a:latin typeface="Malgun Gothic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219456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0F62FE"/>
                </a:solidFill>
                <a:latin typeface="Malgun Gothic"/>
              </a:rPr>
              <a:t>SPRING BOOT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731520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161616"/>
                </a:solidFill>
                <a:latin typeface="Malgun Gothic"/>
              </a:rPr>
              <a:t>Spring Boot 구현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16736"/>
            <a:ext cx="7955279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525252"/>
                </a:solidFill>
                <a:latin typeface="Malgun Gothic"/>
              </a:rPr>
              <a:t>단일 Spring Boot 앱 안에서 인증, 일정 엔진, 외부 연동, AI adapter를 분리해 구현한다.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2048256"/>
            <a:ext cx="2148840" cy="4572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267712"/>
            <a:ext cx="21488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800" b="1" i="0">
                <a:solidFill>
                  <a:srgbClr val="161616"/>
                </a:solidFill>
                <a:latin typeface="Malgun Gothic"/>
              </a:rPr>
              <a:t>Web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670048"/>
            <a:ext cx="2148840" cy="1325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525252"/>
                </a:solidFill>
                <a:latin typeface="Malgun Gothic"/>
              </a:rPr>
              <a:t>Thymeleaf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525252"/>
                </a:solidFill>
                <a:latin typeface="Malgun Gothic"/>
              </a:rPr>
              <a:t>Today Workspace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525252"/>
                </a:solidFill>
                <a:latin typeface="Malgun Gothic"/>
              </a:rPr>
              <a:t>설정/온보딩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2999232"/>
            <a:ext cx="27432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2000" b="0" i="0">
                <a:solidFill>
                  <a:srgbClr val="525252"/>
                </a:solidFill>
                <a:latin typeface="Malgun Gothic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611880" y="2048256"/>
            <a:ext cx="2423160" cy="45720"/>
          </a:xfrm>
          <a:prstGeom prst="rect">
            <a:avLst/>
          </a:prstGeom>
          <a:solidFill>
            <a:srgbClr val="004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2267712"/>
            <a:ext cx="242316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800" b="1" i="0">
                <a:solidFill>
                  <a:srgbClr val="161616"/>
                </a:solidFill>
                <a:latin typeface="Malgun Gothic"/>
              </a:rPr>
              <a:t>Spring Boot 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670048"/>
            <a:ext cx="2423160" cy="1325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525252"/>
                </a:solidFill>
                <a:latin typeface="Malgun Gothic"/>
              </a:rPr>
              <a:t>Controller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525252"/>
                </a:solidFill>
                <a:latin typeface="Malgun Gothic"/>
              </a:rPr>
              <a:t>Service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525252"/>
                </a:solidFill>
                <a:latin typeface="Malgun Gothic"/>
              </a:rPr>
              <a:t>Schedule Engine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525252"/>
                </a:solidFill>
                <a:latin typeface="Malgun Gothic"/>
              </a:rPr>
              <a:t>AI Adapter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08192" y="2999232"/>
            <a:ext cx="27432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2000" b="0" i="0">
                <a:solidFill>
                  <a:srgbClr val="525252"/>
                </a:solidFill>
                <a:latin typeface="Malgun Gothic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37960" y="2048256"/>
            <a:ext cx="2194560" cy="45720"/>
          </a:xfrm>
          <a:prstGeom prst="rect">
            <a:avLst/>
          </a:prstGeom>
          <a:solidFill>
            <a:srgbClr val="004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2267712"/>
            <a:ext cx="219456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800" b="1" i="0">
                <a:solidFill>
                  <a:srgbClr val="161616"/>
                </a:solidFill>
                <a:latin typeface="Malgun Gothic"/>
              </a:rPr>
              <a:t>DB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670048"/>
            <a:ext cx="2194560" cy="1325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525252"/>
                </a:solidFill>
                <a:latin typeface="Malgun Gothic"/>
              </a:rPr>
              <a:t>Spring Data JPA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525252"/>
                </a:solidFill>
                <a:latin typeface="Malgun Gothic"/>
              </a:rPr>
              <a:t>MySQL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525252"/>
                </a:solidFill>
                <a:latin typeface="Malgun Gothic"/>
              </a:rPr>
              <a:t>Goal / Event / Block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05672" y="2999232"/>
            <a:ext cx="27432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2000" b="0" i="0">
                <a:solidFill>
                  <a:srgbClr val="525252"/>
                </a:solidFill>
                <a:latin typeface="Malgun Gothic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81160" y="2048256"/>
            <a:ext cx="1965960" cy="4572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81160" y="2267712"/>
            <a:ext cx="196596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800" b="1" i="0">
                <a:solidFill>
                  <a:srgbClr val="161616"/>
                </a:solidFill>
                <a:latin typeface="Malgun Gothic"/>
              </a:rPr>
              <a:t>External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2670048"/>
            <a:ext cx="1965960" cy="1325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525252"/>
                </a:solidFill>
                <a:latin typeface="Malgun Gothic"/>
              </a:rPr>
              <a:t>Google Calendar API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525252"/>
                </a:solidFill>
                <a:latin typeface="Malgun Gothic"/>
              </a:rPr>
              <a:t>OAuth2 Login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525252"/>
                </a:solidFill>
                <a:latin typeface="Malgun Gothic"/>
              </a:rPr>
              <a:t>LLM API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" y="4773168"/>
            <a:ext cx="10332720" cy="18288"/>
          </a:xfrm>
          <a:prstGeom prst="rect">
            <a:avLst/>
          </a:prstGeom>
          <a:solidFill>
            <a:srgbClr val="52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4956048"/>
            <a:ext cx="91440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F62FE"/>
                </a:solidFill>
                <a:latin typeface="Malgun Gothic"/>
              </a:rPr>
              <a:t>구현 포인트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919472"/>
            <a:ext cx="896112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525252"/>
                </a:solidFill>
                <a:latin typeface="Malgun Gothic"/>
              </a:rPr>
              <a:t>AI가 없어도 기본 일정 생성은 작동하고, AI가 붙으면 재조정안 품질이 좋아지는 구조로 설계한다.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0" y="6400800"/>
            <a:ext cx="36576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525252"/>
                </a:solidFill>
                <a:latin typeface="Malgun Gothic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219456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0F62FE"/>
                </a:solidFill>
                <a:latin typeface="Malgun Gothic"/>
              </a:rPr>
              <a:t>SPRING BOOT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731520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161616"/>
                </a:solidFill>
                <a:latin typeface="Malgun Gothic"/>
              </a:rPr>
              <a:t>중간 진행 상황과 남은 일정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16736"/>
            <a:ext cx="7955279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525252"/>
                </a:solidFill>
                <a:latin typeface="Malgun Gothic"/>
              </a:rPr>
              <a:t>기획과 UX 기준은 정리되었고, 다음 단계는 Spring Boot 구현과 데모 흐름 연결이다.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93392"/>
            <a:ext cx="128016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800" b="1" i="0">
                <a:solidFill>
                  <a:srgbClr val="161616"/>
                </a:solidFill>
                <a:latin typeface="Malgun Gothic"/>
              </a:rPr>
              <a:t>완료된 것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2340864"/>
            <a:ext cx="1051560" cy="4572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633472"/>
            <a:ext cx="4480560" cy="1371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525252"/>
                </a:solidFill>
                <a:latin typeface="Malgun Gothic"/>
              </a:rPr>
              <a:t>문제 정의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525252"/>
                </a:solidFill>
                <a:latin typeface="Malgun Gothic"/>
              </a:rPr>
              <a:t>페르소나 정리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525252"/>
                </a:solidFill>
                <a:latin typeface="Malgun Gothic"/>
              </a:rPr>
              <a:t>기능/페이지 명세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525252"/>
                </a:solidFill>
                <a:latin typeface="Malgun Gothic"/>
              </a:rPr>
              <a:t>UI/UX 설계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525252"/>
                </a:solidFill>
                <a:latin typeface="Malgun Gothic"/>
              </a:rPr>
              <a:t>메인 화면 목업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0" y="1965960"/>
            <a:ext cx="18288" cy="1920240"/>
          </a:xfrm>
          <a:prstGeom prst="rect">
            <a:avLst/>
          </a:prstGeom>
          <a:solidFill>
            <a:srgbClr val="52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53328" y="1993392"/>
            <a:ext cx="224028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700" b="1" i="0">
                <a:solidFill>
                  <a:srgbClr val="161616"/>
                </a:solidFill>
                <a:latin typeface="Malgun Gothic"/>
              </a:rPr>
              <a:t>다음 구현 항목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53328" y="2340864"/>
            <a:ext cx="1234440" cy="45720"/>
          </a:xfrm>
          <a:prstGeom prst="rect">
            <a:avLst/>
          </a:prstGeom>
          <a:solidFill>
            <a:srgbClr val="004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53328" y="2633472"/>
            <a:ext cx="4572000" cy="1371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525252"/>
                </a:solidFill>
                <a:latin typeface="Malgun Gothic"/>
              </a:rPr>
              <a:t>OAuth2 로그인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525252"/>
                </a:solidFill>
                <a:latin typeface="Malgun Gothic"/>
              </a:rPr>
              <a:t>JPA 엔티티 설계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525252"/>
                </a:solidFill>
                <a:latin typeface="Malgun Gothic"/>
              </a:rPr>
              <a:t>Google Calendar 연동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525252"/>
                </a:solidFill>
                <a:latin typeface="Malgun Gothic"/>
              </a:rPr>
              <a:t>Today Workspace CRUD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525252"/>
                </a:solidFill>
                <a:latin typeface="Malgun Gothic"/>
              </a:rPr>
              <a:t>간단한 AI 개입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315968"/>
            <a:ext cx="82296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F62FE"/>
                </a:solidFill>
                <a:latin typeface="Malgun Gothic"/>
              </a:rPr>
              <a:t>데모 목표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4288536"/>
            <a:ext cx="896112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50" b="0" i="0">
                <a:solidFill>
                  <a:srgbClr val="161616"/>
                </a:solidFill>
                <a:latin typeface="Malgun Gothic"/>
              </a:rPr>
              <a:t>로그인 → 연동 → 오늘 계획 생성 → 일정 지연 → AI 개입 승인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51560" y="5029200"/>
            <a:ext cx="9921240" cy="18288"/>
          </a:xfrm>
          <a:prstGeom prst="rect">
            <a:avLst/>
          </a:prstGeom>
          <a:solidFill>
            <a:srgbClr val="52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34440" y="4928616"/>
            <a:ext cx="164592" cy="164592"/>
          </a:xfrm>
          <a:prstGeom prst="ellipse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16152" y="5230368"/>
            <a:ext cx="109728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161616"/>
                </a:solidFill>
                <a:latin typeface="Malgun Gothic"/>
              </a:rPr>
              <a:t>1주차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5504688"/>
            <a:ext cx="1920240" cy="42062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50" b="0" i="0">
                <a:solidFill>
                  <a:srgbClr val="525252"/>
                </a:solidFill>
                <a:latin typeface="Malgun Gothic"/>
              </a:rPr>
              <a:t>프로젝트 세팅
로그인 / 엔티티</a:t>
            </a:r>
          </a:p>
        </p:txBody>
      </p:sp>
      <p:sp>
        <p:nvSpPr>
          <p:cNvPr id="18" name="Oval 17"/>
          <p:cNvSpPr/>
          <p:nvPr/>
        </p:nvSpPr>
        <p:spPr>
          <a:xfrm>
            <a:off x="3657600" y="4928616"/>
            <a:ext cx="164592" cy="164592"/>
          </a:xfrm>
          <a:prstGeom prst="ellipse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39312" y="5230368"/>
            <a:ext cx="109728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161616"/>
                </a:solidFill>
                <a:latin typeface="Malgun Gothic"/>
              </a:rPr>
              <a:t>2주차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9312" y="5504688"/>
            <a:ext cx="1920240" cy="42062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50" b="0" i="0">
                <a:solidFill>
                  <a:srgbClr val="525252"/>
                </a:solidFill>
                <a:latin typeface="Malgun Gothic"/>
              </a:rPr>
              <a:t>Calendar 연동
Routine / Inbox CRUD</a:t>
            </a:r>
          </a:p>
        </p:txBody>
      </p:sp>
      <p:sp>
        <p:nvSpPr>
          <p:cNvPr id="21" name="Oval 20"/>
          <p:cNvSpPr/>
          <p:nvPr/>
        </p:nvSpPr>
        <p:spPr>
          <a:xfrm>
            <a:off x="6172200" y="4928616"/>
            <a:ext cx="164592" cy="164592"/>
          </a:xfrm>
          <a:prstGeom prst="ellipse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53912" y="5230368"/>
            <a:ext cx="109728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161616"/>
                </a:solidFill>
                <a:latin typeface="Malgun Gothic"/>
              </a:rPr>
              <a:t>3주차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53912" y="5504688"/>
            <a:ext cx="1920240" cy="42062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50" b="0" i="0">
                <a:solidFill>
                  <a:srgbClr val="525252"/>
                </a:solidFill>
                <a:latin typeface="Malgun Gothic"/>
              </a:rPr>
              <a:t>오늘 계획 생성
Workspace 조회</a:t>
            </a:r>
          </a:p>
        </p:txBody>
      </p:sp>
      <p:sp>
        <p:nvSpPr>
          <p:cNvPr id="24" name="Oval 23"/>
          <p:cNvSpPr/>
          <p:nvPr/>
        </p:nvSpPr>
        <p:spPr>
          <a:xfrm>
            <a:off x="8641080" y="4928616"/>
            <a:ext cx="164592" cy="164592"/>
          </a:xfrm>
          <a:prstGeom prst="ellipse">
            <a:avLst/>
          </a:prstGeom>
          <a:solidFill>
            <a:srgbClr val="004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22792" y="5230368"/>
            <a:ext cx="109728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0F62FE"/>
                </a:solidFill>
                <a:latin typeface="Malgun Gothic"/>
              </a:rPr>
              <a:t>4주차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22792" y="5504688"/>
            <a:ext cx="1920240" cy="42062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50" b="0" i="0">
                <a:solidFill>
                  <a:srgbClr val="525252"/>
                </a:solidFill>
                <a:latin typeface="Malgun Gothic"/>
              </a:rPr>
              <a:t>AI 개입 API
최종 데모 정리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0" y="6400800"/>
            <a:ext cx="36576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525252"/>
                </a:solidFill>
                <a:latin typeface="Malgun Gothic"/>
              </a:rPr>
              <a:t>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Midterm Presentation - AI Schedule Operator</dc:title>
  <dc:subject>Spring Boot class project</dc:subject>
  <dc:creator>OpenAI Codex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