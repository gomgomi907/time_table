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3657600" cy="3657600"/>
          </a:xfrm>
          <a:prstGeom prst="ellipse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548640"/>
            <a:ext cx="2011680" cy="2011680"/>
          </a:xfrm>
          <a:prstGeom prst="ellipse">
            <a:avLst/>
          </a:prstGeom>
          <a:solidFill>
            <a:srgbClr val="78C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0"/>
            <a:ext cx="4389120" cy="2560320"/>
          </a:xfrm>
          <a:prstGeom prst="ellipse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512064"/>
            <a:ext cx="1783080" cy="310896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21208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MID PROGRESS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3840480" cy="420624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algun Gothic"/>
              </a:rPr>
              <a:t>Time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4389120" cy="38404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EDE6FF"/>
                </a:solidFill>
                <a:latin typeface="Malgun Gothic"/>
              </a:rPr>
              <a:t>LLM 기반 일정 자동 조율 플래너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01952"/>
            <a:ext cx="4526280" cy="877824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algun Gothic"/>
              </a:rPr>
              <a:t>주간 시간표·할 일·목표·집중 흐름을 하나의 워크스페이스로 묶고,
AI가 재배치 제안을 주는 실행형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2194560" cy="219456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78C9B5"/>
                </a:solidFill>
                <a:latin typeface="Malgun Gothic"/>
              </a:rPr>
              <a:t>중간 진행상황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18104"/>
            <a:ext cx="2926080" cy="20116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EDE6FF"/>
                </a:solidFill>
                <a:latin typeface="Malgun Gothic"/>
              </a:rPr>
              <a:t>2026.04.23 기준 저장소 상태를 기준으로 정리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749039"/>
            <a:ext cx="4434840" cy="73152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30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3895344"/>
            <a:ext cx="658368" cy="256032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904487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0479"/>
            <a:ext cx="3337560" cy="493776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분산된 일정·할 일·목표를 한 화면으로 모아 AI가 주간 실행 흐름을 조율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590288"/>
            <a:ext cx="4434840" cy="73152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30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4736592"/>
            <a:ext cx="658368" cy="256032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745736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현재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96" y="4681727"/>
            <a:ext cx="3337560" cy="493776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로그인, 온보딩, 대시보드, 주간 플래너, 집중 모드와 핵심 액션까지 MVP 연결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431536"/>
            <a:ext cx="4434840" cy="73152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30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5577840"/>
            <a:ext cx="658368" cy="256032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586983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남은 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496" y="5522975"/>
            <a:ext cx="3337560" cy="493776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운영형 OAuth, 온보딩 영속화, 설정 UX, sync 실동작, LLM 품질 고도화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822960"/>
            <a:ext cx="4892040" cy="283464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592824" y="932688"/>
            <a:ext cx="10515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2824" y="9418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102542"/>
                </a:solidFill>
                <a:latin typeface="Malgun Gothic"/>
              </a:rPr>
              <a:t>주간 플래너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840480"/>
            <a:ext cx="2971800" cy="18288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09944" y="3950208"/>
            <a:ext cx="10515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39593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102542"/>
                </a:solidFill>
                <a:latin typeface="Malgun Gothic"/>
              </a:rPr>
              <a:t>대시보드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474720"/>
            <a:ext cx="2011680" cy="237744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9610344" y="3584448"/>
            <a:ext cx="10515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3593591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102542"/>
                </a:solidFill>
                <a:latin typeface="Malgun Gothic"/>
              </a:rPr>
              <a:t>집중 모드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465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>Time Table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640080"/>
            <a:ext cx="2926080" cy="2926080"/>
          </a:xfrm>
          <a:prstGeom prst="ellipse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937760"/>
            <a:ext cx="2560320" cy="2560320"/>
          </a:xfrm>
          <a:prstGeom prst="ellipse">
            <a:avLst/>
          </a:prstGeom>
          <a:solidFill>
            <a:srgbClr val="E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2468880" cy="2468880"/>
          </a:xfrm>
          <a:prstGeom prst="ellipse">
            <a:avLst/>
          </a:prstGeom>
          <a:solidFill>
            <a:srgbClr val="FF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475488"/>
            <a:ext cx="1325880" cy="310896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463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4CE6"/>
                </a:solidFill>
                <a:latin typeface="Malgun Gothic"/>
              </a:rPr>
              <a:t>WHAT WE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77824"/>
            <a:ext cx="9692640" cy="74980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 i="0">
                <a:solidFill>
                  <a:srgbClr val="102542"/>
                </a:solidFill>
                <a:latin typeface="Malgun Gothic"/>
              </a:rPr>
              <a:t>만들고자 하는 것은 '계획 앱'이 아니라 '실행을 운영하는 워크스페이스'입니다.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8961120" cy="25603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C5A6A"/>
                </a:solidFill>
                <a:latin typeface="Malgun Gothic"/>
              </a:rPr>
              <a:t>일정·할 일·목표·집중을 하나의 흐름으로 연결하고, AI는 자동 변경보다 제안과 조정 보조에 집중합니다.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3749039" cy="2157984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1975104"/>
            <a:ext cx="658368" cy="274320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98424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40864"/>
            <a:ext cx="3200400" cy="768096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LLM을 이용한 일정 자동 조율 플래너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54096"/>
            <a:ext cx="3291840" cy="786384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EDE6FF"/>
                </a:solidFill>
                <a:latin typeface="Malgun Gothic"/>
              </a:rPr>
              <a:t>사용자 캘린더와 생활 패턴을 읽고,
주간 플랜과 집중 흐름까지 이어지는 실행 경험을 만드는 것이 핵심입니다.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73168" y="1810512"/>
            <a:ext cx="11704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38928" y="1956816"/>
            <a:ext cx="420624" cy="256032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96596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340864"/>
            <a:ext cx="914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02542"/>
                </a:solidFill>
                <a:latin typeface="Malgun Gothic"/>
              </a:rPr>
              <a:t>연동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670048"/>
            <a:ext cx="1005840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C5A6A"/>
                </a:solidFill>
                <a:latin typeface="Malgun Gothic"/>
              </a:rPr>
              <a:t>Google 일정·할 일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2340864"/>
            <a:ext cx="2743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6B4CE6"/>
                </a:solidFill>
                <a:latin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1810512"/>
            <a:ext cx="11704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1956816"/>
            <a:ext cx="420624" cy="256032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340864"/>
            <a:ext cx="914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02542"/>
                </a:solidFill>
                <a:latin typeface="Malgun Gothic"/>
              </a:rPr>
              <a:t>생활 패턴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2670048"/>
            <a:ext cx="1005840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C5A6A"/>
                </a:solidFill>
                <a:latin typeface="Malgun Gothic"/>
              </a:rPr>
              <a:t>짧은 온보딩으로 루틴 파악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7" y="2340864"/>
            <a:ext cx="2743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6B4CE6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1810512"/>
            <a:ext cx="11704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45552" y="1956816"/>
            <a:ext cx="420624" cy="256032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196596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2340864"/>
            <a:ext cx="914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02542"/>
                </a:solidFill>
                <a:latin typeface="Malgun Gothic"/>
              </a:rPr>
              <a:t>주간 플랜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2670048"/>
            <a:ext cx="1005840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C5A6A"/>
                </a:solidFill>
                <a:latin typeface="Malgun Gothic"/>
              </a:rPr>
              <a:t>시간표와 태스크를 한 주 보드로 조합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340864"/>
            <a:ext cx="2743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6B4CE6"/>
                </a:solidFill>
                <a:latin typeface="Malgun Gothic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33104" y="1810512"/>
            <a:ext cx="11704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98864" y="1956816"/>
            <a:ext cx="420624" cy="256032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8864" y="196596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2340864"/>
            <a:ext cx="914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02542"/>
                </a:solidFill>
                <a:latin typeface="Malgun Gothic"/>
              </a:rPr>
              <a:t>집중 실행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2670048"/>
            <a:ext cx="1005840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C5A6A"/>
                </a:solidFill>
                <a:latin typeface="Malgun Gothic"/>
              </a:rPr>
              <a:t>지금 할 일과 다음 전환 안내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2340864"/>
            <a:ext cx="2743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6B4CE6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86416" y="1810512"/>
            <a:ext cx="11704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552176" y="1956816"/>
            <a:ext cx="420624" cy="256032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52176" y="196596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96144" y="2340864"/>
            <a:ext cx="914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02542"/>
                </a:solidFill>
                <a:latin typeface="Malgun Gothic"/>
              </a:rPr>
              <a:t>AI 재조정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9568" y="2670048"/>
            <a:ext cx="1005840" cy="4206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C5A6A"/>
                </a:solidFill>
                <a:latin typeface="Malgun Gothic"/>
              </a:rPr>
              <a:t>충돌·지연 시 제안 중심 재배치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4297680"/>
            <a:ext cx="30358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9808" y="4297680"/>
            <a:ext cx="91440" cy="1572768"/>
          </a:xfrm>
          <a:prstGeom prst="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4517136"/>
            <a:ext cx="2487168" cy="25603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02542"/>
                </a:solidFill>
                <a:latin typeface="Malgun Gothic"/>
              </a:rPr>
              <a:t>통합 워크스페이스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" y="4828032"/>
            <a:ext cx="2542032" cy="54864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대시보드, 주간 플래너, 집중 모드를 하나의 세션으로 연결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96512" y="4297680"/>
            <a:ext cx="30358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96512" y="4297680"/>
            <a:ext cx="91440" cy="1572768"/>
          </a:xfrm>
          <a:prstGeom prst="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4517136"/>
            <a:ext cx="2487168" cy="25603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02542"/>
                </a:solidFill>
                <a:latin typeface="Malgun Gothic"/>
              </a:rPr>
              <a:t>제안형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828032"/>
            <a:ext cx="2542032" cy="54864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AI가 멋대로 바꾸지 않고 구조화된 제안과 재배치 보조에 집중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43216" y="4297680"/>
            <a:ext cx="30358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43216" y="4297680"/>
            <a:ext cx="91440" cy="1572768"/>
          </a:xfrm>
          <a:prstGeom prst="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44384" y="4517136"/>
            <a:ext cx="2487168" cy="25603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02542"/>
                </a:solidFill>
                <a:latin typeface="Malgun Gothic"/>
              </a:rPr>
              <a:t>운영 데이터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44384" y="4828032"/>
            <a:ext cx="2542032" cy="54864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일정 블록, 목표, 태스크, 포커스, sync 상태를 함께 다루는 설계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64465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6B7887"/>
                </a:solidFill>
                <a:latin typeface="Malgun Gothic"/>
              </a:rPr>
              <a:t>Time Table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640080"/>
            <a:ext cx="2926080" cy="2926080"/>
          </a:xfrm>
          <a:prstGeom prst="ellipse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937760"/>
            <a:ext cx="2560320" cy="2560320"/>
          </a:xfrm>
          <a:prstGeom prst="ellipse">
            <a:avLst/>
          </a:prstGeom>
          <a:solidFill>
            <a:srgbClr val="E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2468880" cy="2468880"/>
          </a:xfrm>
          <a:prstGeom prst="ellipse">
            <a:avLst/>
          </a:prstGeom>
          <a:solidFill>
            <a:srgbClr val="FF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475488"/>
            <a:ext cx="1508760" cy="310896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4632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4CE6"/>
                </a:solidFill>
                <a:latin typeface="Malgun Gothic"/>
              </a:rPr>
              <a:t>CURRENT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77824"/>
            <a:ext cx="9326880" cy="80467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 i="0">
                <a:solidFill>
                  <a:srgbClr val="102542"/>
                </a:solidFill>
                <a:latin typeface="Malgun Gothic"/>
              </a:rPr>
              <a:t>핵심 사용자 흐름은 화면 단위로 시연 가능한 수준까지 구현했습니다.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82496"/>
            <a:ext cx="301752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1865376"/>
            <a:ext cx="841248" cy="274320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74519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진행 상황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49424"/>
            <a:ext cx="2468880" cy="6217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02542"/>
                </a:solidFill>
                <a:latin typeface="Malgun Gothic"/>
              </a:rPr>
              <a:t>화면과 핵심 액션은
MVP 데모 가능한 단계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163824"/>
            <a:ext cx="2615184" cy="76809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91840"/>
            <a:ext cx="841248" cy="1828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4CE6"/>
                </a:solidFill>
                <a:latin typeface="Malgun Gothic"/>
              </a:rPr>
              <a:t>구현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93008"/>
            <a:ext cx="2212848" cy="29260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C5A6A"/>
                </a:solidFill>
                <a:latin typeface="Malgun Gothic"/>
              </a:rPr>
              <a:t>로그인 / 온보딩 / 대시보드 / 주간 플래너 / 집중 모드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4059935"/>
            <a:ext cx="2615184" cy="76809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87951"/>
            <a:ext cx="841248" cy="1828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4CE6"/>
                </a:solidFill>
                <a:latin typeface="Malgun Gothic"/>
              </a:rPr>
              <a:t>연결 액션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389120"/>
            <a:ext cx="2212848" cy="29260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C5A6A"/>
                </a:solidFill>
                <a:latin typeface="Malgun Gothic"/>
              </a:rPr>
              <a:t>일정 블록 생성·수정, 집중 완료·연장·미루기, AI 제안 적용·거절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956048"/>
            <a:ext cx="2615184" cy="76809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084064"/>
            <a:ext cx="841248" cy="1828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4CE6"/>
                </a:solidFill>
                <a:latin typeface="Malgun Gothic"/>
              </a:rPr>
              <a:t>현재 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285232"/>
            <a:ext cx="2212848" cy="29260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4C5A6A"/>
                </a:solidFill>
                <a:latin typeface="Malgun Gothic"/>
              </a:rPr>
              <a:t>내부 데모 가능. 운영 안정화는 보완 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541264"/>
            <a:ext cx="1133856" cy="402336"/>
          </a:xfrm>
          <a:prstGeom prst="roundRect">
            <a:avLst/>
          </a:prstGeom>
          <a:solidFill>
            <a:srgbClr val="E5F7F2"/>
          </a:solidFill>
          <a:ln w="12700">
            <a:solidFill>
              <a:srgbClr val="BB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4560" y="5541264"/>
            <a:ext cx="1133856" cy="402336"/>
          </a:xfrm>
          <a:prstGeom prst="roundRect">
            <a:avLst/>
          </a:prstGeom>
          <a:solidFill>
            <a:srgbClr val="EDE6FF"/>
          </a:solidFill>
          <a:ln w="12700">
            <a:solidFill>
              <a:srgbClr val="D7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14416"/>
            <a:ext cx="960120" cy="1463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4C5A6A"/>
                </a:solidFill>
                <a:latin typeface="Malgun Gothic"/>
              </a:rPr>
              <a:t>7개 사용자 경로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5614416"/>
            <a:ext cx="960120" cy="1463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4C5A6A"/>
                </a:solidFill>
                <a:latin typeface="Malgun Gothic"/>
              </a:rPr>
              <a:t>5개 주요 캡처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41648" y="1682496"/>
            <a:ext cx="3611880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06240" y="1828800"/>
            <a:ext cx="1097280" cy="292608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1837943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4CE6"/>
                </a:solidFill>
                <a:latin typeface="Malgun Gothic"/>
              </a:rPr>
              <a:t>온보딩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3" y="2048256"/>
            <a:ext cx="3355848" cy="138988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845552" y="1682496"/>
            <a:ext cx="3611880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0144" y="1828800"/>
            <a:ext cx="1097280" cy="292608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0144" y="1837943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4CE6"/>
                </a:solidFill>
                <a:latin typeface="Malgun Gothic"/>
              </a:rPr>
              <a:t>대시보드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048256"/>
            <a:ext cx="3355848" cy="138988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041648" y="3712463"/>
            <a:ext cx="3931920" cy="23591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06240" y="3858768"/>
            <a:ext cx="1097280" cy="292608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3867911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4CE6"/>
                </a:solidFill>
                <a:latin typeface="Malgun Gothic"/>
              </a:rPr>
              <a:t>주간 플래너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3" y="4078224"/>
            <a:ext cx="3675887" cy="19202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156448" y="3712463"/>
            <a:ext cx="3300984" cy="23591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21040" y="3858768"/>
            <a:ext cx="1097280" cy="292608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867911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4CE6"/>
                </a:solidFill>
                <a:latin typeface="Malgun Gothic"/>
              </a:rPr>
              <a:t>집중 모드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4078224"/>
            <a:ext cx="3044952" cy="19202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9808" y="64465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6B7887"/>
                </a:solidFill>
                <a:latin typeface="Malgun Gothic"/>
              </a:rPr>
              <a:t>Time Table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640080"/>
            <a:ext cx="2926080" cy="2926080"/>
          </a:xfrm>
          <a:prstGeom prst="ellipse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937760"/>
            <a:ext cx="2560320" cy="2560320"/>
          </a:xfrm>
          <a:prstGeom prst="ellipse">
            <a:avLst/>
          </a:prstGeom>
          <a:solidFill>
            <a:srgbClr val="E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2468880" cy="2468880"/>
          </a:xfrm>
          <a:prstGeom prst="ellipse">
            <a:avLst/>
          </a:prstGeom>
          <a:solidFill>
            <a:srgbClr val="FF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475488"/>
            <a:ext cx="1115568" cy="310896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463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4CE6"/>
                </a:solidFill>
                <a:latin typeface="Malgun Gothic"/>
              </a:rPr>
              <a:t>STATUS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77824"/>
            <a:ext cx="8138160" cy="74980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 i="0">
                <a:solidFill>
                  <a:srgbClr val="102542"/>
                </a:solidFill>
                <a:latin typeface="Malgun Gothic"/>
              </a:rPr>
              <a:t>프론트-백 연동은 MVP 수준이며, 외부 연동과 운영 안정화는 아직 남았습니다.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09344"/>
            <a:ext cx="8595360" cy="22860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C5A6A"/>
                </a:solidFill>
                <a:latin typeface="Malgun Gothic"/>
              </a:rPr>
              <a:t>현재 저장소에는 넓은 범위의 API와 화면 골격이 있으며, 핵심 차이는 '구현 존재'와 '운영 완성도'입니다.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768096"/>
            <a:ext cx="10789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79024" y="768096"/>
            <a:ext cx="10789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841248"/>
            <a:ext cx="107899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6B4CE6"/>
                </a:solidFill>
                <a:latin typeface="Malgun Gothic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170432"/>
            <a:ext cx="1078992" cy="12801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4C5A6A"/>
                </a:solidFill>
                <a:latin typeface="Malgun Gothic"/>
              </a:rPr>
              <a:t>front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9024" y="841248"/>
            <a:ext cx="1078992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78C9B5"/>
                </a:solidFill>
                <a:latin typeface="Malgun Gothic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9024" y="1170432"/>
            <a:ext cx="1078992" cy="12801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4C5A6A"/>
                </a:solidFill>
                <a:latin typeface="Malgun Gothic"/>
              </a:rPr>
              <a:t>API controllers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1773936"/>
            <a:ext cx="28529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1773936"/>
            <a:ext cx="2852928" cy="182880"/>
          </a:xfrm>
          <a:prstGeom prst="rect">
            <a:avLst/>
          </a:prstGeom>
          <a:solidFill>
            <a:srgbClr val="78C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048256"/>
            <a:ext cx="1005840" cy="25603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02542"/>
                </a:solidFill>
                <a:latin typeface="Malgun Gothic"/>
              </a:rPr>
              <a:t>완료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523744"/>
            <a:ext cx="2523744" cy="530352"/>
          </a:xfrm>
          <a:prstGeom prst="roundRect">
            <a:avLst/>
          </a:prstGeom>
          <a:solidFill>
            <a:srgbClr val="E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7" y="2688336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주간 플래너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200400"/>
            <a:ext cx="2523744" cy="530352"/>
          </a:xfrm>
          <a:prstGeom prst="roundRect">
            <a:avLst/>
          </a:prstGeom>
          <a:solidFill>
            <a:srgbClr val="E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3364992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집중 모드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877056"/>
            <a:ext cx="2523744" cy="530352"/>
          </a:xfrm>
          <a:prstGeom prst="roundRect">
            <a:avLst/>
          </a:prstGeom>
          <a:solidFill>
            <a:srgbClr val="E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7" y="4041648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대시보드 핵심 화면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53712"/>
            <a:ext cx="2523744" cy="530352"/>
          </a:xfrm>
          <a:prstGeom prst="roundRect">
            <a:avLst/>
          </a:prstGeom>
          <a:solidFill>
            <a:srgbClr val="E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4718304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일정 블록 CRUD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230368"/>
            <a:ext cx="2523744" cy="530352"/>
          </a:xfrm>
          <a:prstGeom prst="roundRect">
            <a:avLst/>
          </a:prstGeom>
          <a:solidFill>
            <a:srgbClr val="E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7" y="5394960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포커스 완료 / 연장 / 미루기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78224" y="1773936"/>
            <a:ext cx="28529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78224" y="1773936"/>
            <a:ext cx="2852928" cy="182880"/>
          </a:xfrm>
          <a:prstGeom prst="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1104" y="2048256"/>
            <a:ext cx="1005840" cy="25603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02542"/>
                </a:solidFill>
                <a:latin typeface="Malgun Gothic"/>
              </a:rPr>
              <a:t>MVP 연결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2816" y="2523744"/>
            <a:ext cx="2523744" cy="530352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2544" y="2688336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로그인 / auth callback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42816" y="3200400"/>
            <a:ext cx="2523744" cy="530352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2544" y="3364992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온보딩 bootstrap / answers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2816" y="3877056"/>
            <a:ext cx="2523744" cy="530352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041648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AI 재배치 suggestion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42816" y="4553712"/>
            <a:ext cx="2523744" cy="530352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4718304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Google sync 상태 표시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42816" y="5230368"/>
            <a:ext cx="2523744" cy="530352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52544" y="5394960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Settings API 기본 저장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1773936"/>
            <a:ext cx="28529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06640" y="1773936"/>
            <a:ext cx="2852928" cy="182880"/>
          </a:xfrm>
          <a:prstGeom prst="rect">
            <a:avLst/>
          </a:prstGeom>
          <a:solidFill>
            <a:srgbClr val="F2B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19" y="2048256"/>
            <a:ext cx="1005840" cy="25603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02542"/>
                </a:solidFill>
                <a:latin typeface="Malgun Gothic"/>
              </a:rPr>
              <a:t>남은 과제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71231" y="2523744"/>
            <a:ext cx="2523744" cy="530352"/>
          </a:xfrm>
          <a:prstGeom prst="roundRect">
            <a:avLst/>
          </a:prstGeom>
          <a:solidFill>
            <a:srgbClr val="FF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2688336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온보딩 완료 영속화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71231" y="3200400"/>
            <a:ext cx="2523744" cy="530352"/>
          </a:xfrm>
          <a:prstGeom prst="roundRect">
            <a:avLst/>
          </a:prstGeom>
          <a:solidFill>
            <a:srgbClr val="FF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3364992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설정 화면 및 패턴 저장 확장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71231" y="3877056"/>
            <a:ext cx="2523744" cy="530352"/>
          </a:xfrm>
          <a:prstGeom prst="roundRect">
            <a:avLst/>
          </a:prstGeom>
          <a:solidFill>
            <a:srgbClr val="FF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4041648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대시보드 aggregate API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71231" y="4553712"/>
            <a:ext cx="2523744" cy="530352"/>
          </a:xfrm>
          <a:prstGeom prst="roundRect">
            <a:avLst/>
          </a:prstGeom>
          <a:solidFill>
            <a:srgbClr val="FF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4718304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sync 실동작과 scaffold 구분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71231" y="5230368"/>
            <a:ext cx="2523744" cy="530352"/>
          </a:xfrm>
          <a:prstGeom prst="roundRect">
            <a:avLst/>
          </a:prstGeom>
          <a:solidFill>
            <a:srgbClr val="FF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5394960"/>
            <a:ext cx="2231136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4C5A6A"/>
                </a:solidFill>
                <a:latin typeface="Malgun Gothic"/>
              </a:rPr>
              <a:t>LLM 품질·설명 강화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9808" y="6199632"/>
            <a:ext cx="10424160" cy="256032"/>
          </a:xfrm>
          <a:prstGeom prst="round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6236208"/>
            <a:ext cx="10058400" cy="16459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4C5A6A"/>
                </a:solidFill>
                <a:latin typeface="Malgun Gothic"/>
              </a:rPr>
              <a:t>메모: 대시보드 집계는 프론트 조합 방식이고, sync와 AI 재배치 흐름은 아직 scaffold / MVP 성격이 강합니다.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64465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6B7887"/>
                </a:solidFill>
                <a:latin typeface="Malgun Gothic"/>
              </a:rPr>
              <a:t>Time Table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3657600" cy="3657600"/>
          </a:xfrm>
          <a:prstGeom prst="ellipse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548640"/>
            <a:ext cx="2011680" cy="2011680"/>
          </a:xfrm>
          <a:prstGeom prst="ellipse">
            <a:avLst/>
          </a:prstGeom>
          <a:solidFill>
            <a:srgbClr val="78C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0"/>
            <a:ext cx="4389120" cy="2560320"/>
          </a:xfrm>
          <a:prstGeom prst="ellipse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512064"/>
            <a:ext cx="1261872" cy="310896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21208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NEXT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32688"/>
            <a:ext cx="7680960" cy="768096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다음 보고 시점 목표는 '운영 가능한 연결형 MVP'입니다.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00784"/>
            <a:ext cx="8686800" cy="256032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DE6FF"/>
                </a:solidFill>
                <a:latin typeface="Malgun Gothic"/>
              </a:rPr>
              <a:t>남은 일은 분명합니다. 계정 연결과 사용자 상태를 안정화하고, 외부 sync와 AI 제안의 신뢰도를 끌어올려야 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75104"/>
            <a:ext cx="2926080" cy="340156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30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" y="2194560"/>
            <a:ext cx="987552" cy="292608"/>
          </a:xfrm>
          <a:prstGeom prst="roundRect">
            <a:avLst/>
          </a:prstGeom>
          <a:solidFill>
            <a:srgbClr val="6B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203703"/>
            <a:ext cx="9875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1. 안정화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670048"/>
            <a:ext cx="822960" cy="1828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DE6FF"/>
                </a:solidFill>
                <a:latin typeface="Malgun Gothic"/>
              </a:rPr>
              <a:t>핵심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944368"/>
            <a:ext cx="2377440" cy="10972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운영형 로그인 / OAuth
온보딩 완료 저장
설정 화면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663440"/>
            <a:ext cx="2377440" cy="420624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EDE6FF"/>
                </a:solidFill>
                <a:latin typeface="Malgun Gothic"/>
              </a:rPr>
              <a:t>이번 단계가 끝나면 다음 단계로 넘어갈 수 있는 조건이 확보됩니다.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6512" y="1975104"/>
            <a:ext cx="2926080" cy="340156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30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194560"/>
            <a:ext cx="987552" cy="292608"/>
          </a:xfrm>
          <a:prstGeom prst="roundRect">
            <a:avLst/>
          </a:prstGeom>
          <a:solidFill>
            <a:srgbClr val="78C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203703"/>
            <a:ext cx="9875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2. 연동 완성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70048"/>
            <a:ext cx="822960" cy="1828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DE6FF"/>
                </a:solidFill>
                <a:latin typeface="Malgun Gothic"/>
              </a:rPr>
              <a:t>핵심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944368"/>
            <a:ext cx="2377440" cy="10972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대시보드 aggregate API
sync 상태 명확화
schedule block 기반 focus 보강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663440"/>
            <a:ext cx="2377440" cy="420624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EDE6FF"/>
                </a:solidFill>
                <a:latin typeface="Malgun Gothic"/>
              </a:rPr>
              <a:t>이번 단계가 끝나면 다음 단계로 넘어갈 수 있는 조건이 확보됩니다.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6" y="1975104"/>
            <a:ext cx="2926080" cy="340156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30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44384" y="2194560"/>
            <a:ext cx="987552" cy="292608"/>
          </a:xfrm>
          <a:prstGeom prst="roundRect">
            <a:avLst/>
          </a:prstGeom>
          <a:solidFill>
            <a:srgbClr val="F2B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2203703"/>
            <a:ext cx="9875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algun Gothic"/>
              </a:rPr>
              <a:t>3. AI 고도화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4" y="2670048"/>
            <a:ext cx="822960" cy="1828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EDE6FF"/>
                </a:solidFill>
                <a:latin typeface="Malgun Gothic"/>
              </a:rPr>
              <a:t>핵심 과제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4" y="2944368"/>
            <a:ext cx="2377440" cy="10972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LLM 정규화 품질 검증
재배치 설명 payload 강화
사용자 신뢰도 개선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4663440"/>
            <a:ext cx="2377440" cy="420624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EDE6FF"/>
                </a:solidFill>
                <a:latin typeface="Malgun Gothic"/>
              </a:rPr>
              <a:t>이번 단계가 끝나면 다음 단계로 넘어갈 수 있는 조건이 확보됩니다.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3346704"/>
            <a:ext cx="292608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DE6FF"/>
                </a:solidFill>
                <a:latin typeface="Malgun Gothi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346704"/>
            <a:ext cx="292608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DE6FF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760720"/>
            <a:ext cx="10479024" cy="658368"/>
          </a:xfrm>
          <a:prstGeom prst="roundRect">
            <a:avLst/>
          </a:prstGeom>
          <a:solidFill>
            <a:srgbClr val="203C63"/>
          </a:solidFill>
          <a:ln w="12700">
            <a:solidFill>
              <a:srgbClr val="30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925312"/>
            <a:ext cx="10058400" cy="20116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중간 결론: UI 골격과 핵심 API는 확보했다. 다음 단계는 데이터 영속화, 외부 연동, AI 신뢰도를 메우는 일이다.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64465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>Time Table  | 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Table Mid Progress Report</dc:title>
  <dc:subject>PM Update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