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502920"/>
            <a:ext cx="10972800" cy="5806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e-table-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841248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914400"/>
            <a:ext cx="292608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800" b="1">
                <a:solidFill>
                  <a:srgbClr val="111827"/>
                </a:solidFill>
                <a:latin typeface="맑은 고딕"/>
              </a:defRPr>
            </a:pPr>
            <a:r>
              <a:t>Time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583680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3400" b="1">
                <a:solidFill>
                  <a:srgbClr val="111827"/>
                </a:solidFill>
                <a:latin typeface="맑은 고딕"/>
              </a:defRPr>
            </a:pPr>
            <a:r>
              <a:t>실행을 돕는 AI 주간 플래너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97480"/>
            <a:ext cx="676656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500" b="0">
                <a:solidFill>
                  <a:srgbClr val="283246"/>
                </a:solidFill>
                <a:latin typeface="맑은 고딕"/>
              </a:defRPr>
            </a:pPr>
            <a:r>
              <a:t>일정, 할 일, 목표, 집중 모드를 하나의 작업공간으로 묶어</a:t>
            </a:r>
          </a:p>
          <a:p>
            <a:pPr>
              <a:lnSpc>
                <a:spcPct val="106000"/>
              </a:lnSpc>
              <a:defRPr sz="1500" b="0">
                <a:solidFill>
                  <a:srgbClr val="283246"/>
                </a:solidFill>
                <a:latin typeface="맑은 고딕"/>
              </a:defRPr>
            </a:pPr>
            <a:r>
              <a:t>기억과 시작의 부담을 줄이는 문제해결프로그래밍 프로젝트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3822191"/>
            <a:ext cx="1508760" cy="292608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3881628"/>
            <a:ext cx="13624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880" b="1">
                <a:solidFill>
                  <a:srgbClr val="5B6EE1"/>
                </a:solidFill>
                <a:latin typeface="맑은 고딕"/>
              </a:defRPr>
            </a:pPr>
            <a:r>
              <a:t>Final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4315968"/>
            <a:ext cx="301752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00" b="0">
                <a:solidFill>
                  <a:srgbClr val="6B7280"/>
                </a:solidFill>
                <a:latin typeface="맑은 고딕"/>
              </a:defRPr>
            </a:pPr>
            <a:r>
              <a:t>과목 문제해결프로그래밍</a:t>
            </a:r>
          </a:p>
          <a:p>
            <a:pPr>
              <a:lnSpc>
                <a:spcPct val="106000"/>
              </a:lnSpc>
              <a:defRPr sz="1200" b="0">
                <a:solidFill>
                  <a:srgbClr val="6B7280"/>
                </a:solidFill>
                <a:latin typeface="맑은 고딕"/>
              </a:defRPr>
            </a:pPr>
            <a:r>
              <a:t>담당교수 박경신</a:t>
            </a:r>
          </a:p>
          <a:p>
            <a:pPr>
              <a:lnSpc>
                <a:spcPct val="106000"/>
              </a:lnSpc>
              <a:defRPr sz="1200" b="0">
                <a:solidFill>
                  <a:srgbClr val="6B7280"/>
                </a:solidFill>
                <a:latin typeface="맑은 고딕"/>
              </a:defRPr>
            </a:pPr>
            <a:r>
              <a:t>이름 이근산</a:t>
            </a:r>
          </a:p>
          <a:p>
            <a:pPr>
              <a:lnSpc>
                <a:spcPct val="106000"/>
              </a:lnSpc>
              <a:defRPr sz="1200" b="0">
                <a:solidFill>
                  <a:srgbClr val="6B7280"/>
                </a:solidFill>
                <a:latin typeface="맑은 고딕"/>
              </a:defRPr>
            </a:pPr>
            <a:r>
              <a:t>학번 32183022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74636" y="882396"/>
            <a:ext cx="3538727" cy="4453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3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2023110"/>
            <a:ext cx="3474720" cy="217169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18320" y="6446520"/>
            <a:ext cx="22860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6000"/>
              </a:lnSpc>
              <a:defRPr sz="750" b="0">
                <a:solidFill>
                  <a:srgbClr val="6B7280"/>
                </a:solidFill>
                <a:latin typeface="맑은 고딕"/>
              </a:defRPr>
            </a:pPr>
            <a:r>
              <a:t>문제해결프로그래밍 | 이근산 32183022 |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me-table-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0040"/>
            <a:ext cx="347472" cy="3474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7033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맑은 고딕"/>
              </a:defRPr>
            </a:pPr>
            <a:r>
              <a:t>Time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68680"/>
            <a:ext cx="676656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2800" b="1">
                <a:solidFill>
                  <a:srgbClr val="111827"/>
                </a:solidFill>
                <a:latin typeface="맑은 고딕"/>
              </a:defRPr>
            </a:pPr>
            <a:r>
              <a:t>발표 목표와 10–15분 운영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828800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9384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1819656"/>
            <a:ext cx="427939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문제 정의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2048256"/>
            <a:ext cx="427939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왜 단순 캘린더가 아니라 실행 보조 도구가 필요한지 설명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505456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606040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6736" y="2496312"/>
            <a:ext cx="427939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제품 기획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2724912"/>
            <a:ext cx="427939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일정, todo, 목표, 집중을 한 흐름으로 묶는 해결 방향 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3182112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3282696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3172968"/>
            <a:ext cx="427939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구현 증거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3401568"/>
            <a:ext cx="427939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최신 화면 캡처와 로컬 데모로 현재 구현 범위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858768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959352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3849624"/>
            <a:ext cx="427939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정직한 마무리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4078224"/>
            <a:ext cx="427939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완성된 부분과 남은 작업을 구분해 제출 신뢰도 확보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325880"/>
            <a:ext cx="4892040" cy="4343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20840" y="1627632"/>
            <a:ext cx="960120" cy="292608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3992" y="1687068"/>
            <a:ext cx="81381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880" b="1">
                <a:solidFill>
                  <a:srgbClr val="5B6EE1"/>
                </a:solidFill>
                <a:latin typeface="맑은 고딕"/>
              </a:defRPr>
            </a:pPr>
            <a:r>
              <a:t>Demo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84848" y="2130552"/>
            <a:ext cx="41605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2000" b="1">
                <a:solidFill>
                  <a:srgbClr val="111827"/>
                </a:solidFill>
                <a:latin typeface="맑은 고딕"/>
              </a:defRPr>
            </a:pPr>
            <a:r>
              <a:t>로그인 → 온보딩 → 오늘 대시보드 → 주간 일정 → 일정 추가 모달 → 집중 모드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3337560"/>
            <a:ext cx="4069080" cy="1051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20" b="0">
                <a:solidFill>
                  <a:srgbClr val="6B7280"/>
                </a:solidFill>
                <a:latin typeface="맑은 고딕"/>
              </a:defRPr>
            </a:pPr>
            <a:r>
              <a:t>배포 링크만 던지는 방식이 아니라, 발표자가 직접 2–3분 동안 문제→해결 흐름을 클릭하며 보여준다. 네트워크 장애 대비용으로 이 PPT의 최신 스크린샷을 백업으로 사용한다.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6446520"/>
            <a:ext cx="22860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6000"/>
              </a:lnSpc>
              <a:defRPr sz="750" b="0">
                <a:solidFill>
                  <a:srgbClr val="6B7280"/>
                </a:solidFill>
                <a:latin typeface="맑은 고딕"/>
              </a:defRPr>
            </a:pPr>
            <a:r>
              <a:t>문제해결프로그래밍 | 이근산 32183022 |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me-table-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0040"/>
            <a:ext cx="347472" cy="3474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7033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맑은 고딕"/>
              </a:defRPr>
            </a:pPr>
            <a:r>
              <a:t>Time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68680"/>
            <a:ext cx="676656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2800" b="1">
                <a:solidFill>
                  <a:srgbClr val="111827"/>
                </a:solidFill>
                <a:latin typeface="맑은 고딕"/>
              </a:defRPr>
            </a:pPr>
            <a:r>
              <a:t>문제 정의: 계획은 있는데 실행이 끊긴다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417320"/>
            <a:ext cx="5212080" cy="4480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42415" y="1737360"/>
            <a:ext cx="1417320" cy="292608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1796795"/>
            <a:ext cx="127101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880" b="1">
                <a:solidFill>
                  <a:srgbClr val="5B6EE1"/>
                </a:solidFill>
                <a:latin typeface="맑은 고딕"/>
              </a:defRPr>
            </a:pPr>
            <a:r>
              <a:t>Personal motivation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267712"/>
            <a:ext cx="4343400" cy="12344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2000" b="1">
                <a:solidFill>
                  <a:srgbClr val="111827"/>
                </a:solidFill>
                <a:latin typeface="맑은 고딕"/>
              </a:defRPr>
            </a:pPr>
            <a:r>
              <a:t>ADHD 특성으로 인해 일정을 기억하고,</a:t>
            </a:r>
          </a:p>
          <a:p>
            <a:pPr>
              <a:lnSpc>
                <a:spcPct val="106000"/>
              </a:lnSpc>
              <a:defRPr sz="2000" b="1">
                <a:solidFill>
                  <a:srgbClr val="111827"/>
                </a:solidFill>
                <a:latin typeface="맑은 고딕"/>
              </a:defRPr>
            </a:pPr>
            <a:r>
              <a:t>할 일을 관리하고,</a:t>
            </a:r>
          </a:p>
          <a:p>
            <a:pPr>
              <a:lnSpc>
                <a:spcPct val="106000"/>
              </a:lnSpc>
              <a:defRPr sz="2000" b="1">
                <a:solidFill>
                  <a:srgbClr val="111827"/>
                </a:solidFill>
                <a:latin typeface="맑은 고딕"/>
              </a:defRPr>
            </a:pPr>
            <a:r>
              <a:t>지금 시작해야 할 작업으로 전환하는 데</a:t>
            </a:r>
          </a:p>
          <a:p>
            <a:pPr>
              <a:lnSpc>
                <a:spcPct val="106000"/>
              </a:lnSpc>
              <a:defRPr sz="2000" b="1">
                <a:solidFill>
                  <a:srgbClr val="111827"/>
                </a:solidFill>
                <a:latin typeface="맑은 고딕"/>
              </a:defRPr>
            </a:pPr>
            <a:r>
              <a:t>부담이 생기는 경험에서 출발했다.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160520"/>
            <a:ext cx="438912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150" b="0">
                <a:solidFill>
                  <a:srgbClr val="6B7280"/>
                </a:solidFill>
                <a:latin typeface="맑은 고딕"/>
              </a:defRPr>
            </a:pPr>
            <a:r>
              <a:t>이 프로젝트는 의료적 치료를 주장하지 않는다. 개인의 실행 기능 부담을 줄이기 위한 소프트웨어 설계 실험으로 제시한다.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417320"/>
            <a:ext cx="4754880" cy="4480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84848" y="1874519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0568" y="1975103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1775" y="1865376"/>
            <a:ext cx="3410711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분산된 도구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51775" y="2093976"/>
            <a:ext cx="3410711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캘린더, todo, 목표, 메모가 서로 떨어져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4848" y="2834639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0568" y="2935223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51775" y="2825496"/>
            <a:ext cx="3410711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맥락 손실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51775" y="3054096"/>
            <a:ext cx="3410711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일정은 보이지만 왜 해야 하는지, 다음 행동이 무엇인지 흐려짐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84848" y="3794760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0568" y="3895344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1775" y="3785616"/>
            <a:ext cx="3410711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시작 비용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51775" y="4014216"/>
            <a:ext cx="3410711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계획을 다시 해석하는 시간이 길어져 실행 진입이 늦어짐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6446520"/>
            <a:ext cx="22860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6000"/>
              </a:lnSpc>
              <a:defRPr sz="750" b="0">
                <a:solidFill>
                  <a:srgbClr val="6B7280"/>
                </a:solidFill>
                <a:latin typeface="맑은 고딕"/>
              </a:defRPr>
            </a:pPr>
            <a:r>
              <a:t>문제해결프로그래밍 | 이근산 32183022 |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me-table-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0040"/>
            <a:ext cx="347472" cy="3474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7033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맑은 고딕"/>
              </a:defRPr>
            </a:pPr>
            <a:r>
              <a:t>Time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68680"/>
            <a:ext cx="676656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2800" b="1">
                <a:solidFill>
                  <a:srgbClr val="111827"/>
                </a:solidFill>
                <a:latin typeface="맑은 고딕"/>
              </a:defRPr>
            </a:pPr>
            <a:r>
              <a:t>목표: 한 주를 운영하는 실행형 워크스페이스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508760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609344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1499616"/>
            <a:ext cx="4919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오늘 브리핑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1728216"/>
            <a:ext cx="491947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오늘 무엇이 있는지, 지금 무엇을 해야 하는지 먼저 보여준다.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258568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359151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6736" y="2249424"/>
            <a:ext cx="4919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주간 시간표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2478024"/>
            <a:ext cx="491947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루틴, 과제, 발표 준비, 회복 시간을 한 화면에서 조정한다.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3008376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3108960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2999232"/>
            <a:ext cx="4919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목표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3227832"/>
            <a:ext cx="491947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일정과 할 일을 목표 진행률과 연결해 의미를 잃지 않게 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758183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858768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3749039"/>
            <a:ext cx="4919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집중 모드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3977639"/>
            <a:ext cx="491947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현재 실행할 항목과 다음 전환 시점을 크게 보여준다.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4507992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4608576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6736" y="4498848"/>
            <a:ext cx="4919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AI 제안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16736" y="4727448"/>
            <a:ext cx="491947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자동 변경이 아니라 검토 가능한 조정안을 제시한다.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3388" y="1339596"/>
            <a:ext cx="4498848" cy="43159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02-onboar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2111692"/>
            <a:ext cx="4434840" cy="277177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418320" y="6446520"/>
            <a:ext cx="22860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6000"/>
              </a:lnSpc>
              <a:defRPr sz="750" b="0">
                <a:solidFill>
                  <a:srgbClr val="6B7280"/>
                </a:solidFill>
                <a:latin typeface="맑은 고딕"/>
              </a:defRPr>
            </a:pPr>
            <a:r>
              <a:t>문제해결프로그래밍 | 이근산 32183022 |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me-table-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0040"/>
            <a:ext cx="347472" cy="3474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7033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맑은 고딕"/>
              </a:defRPr>
            </a:pPr>
            <a:r>
              <a:t>Time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68680"/>
            <a:ext cx="676656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2800" b="1">
                <a:solidFill>
                  <a:srgbClr val="111827"/>
                </a:solidFill>
                <a:latin typeface="맑은 고딕"/>
              </a:defRPr>
            </a:pPr>
            <a:r>
              <a:t>서비스 흐름: 기억 → 계획 → 시작 → 조정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938528"/>
            <a:ext cx="201168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2249424"/>
            <a:ext cx="1143000" cy="292608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90472" y="2308860"/>
            <a:ext cx="99669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880" b="1">
                <a:solidFill>
                  <a:srgbClr val="5B6EE1"/>
                </a:solidFill>
                <a:latin typeface="맑은 고딕"/>
              </a:defRPr>
            </a:pPr>
            <a:r>
              <a:t>기억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880360"/>
            <a:ext cx="1609344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350" b="1">
                <a:solidFill>
                  <a:srgbClr val="111827"/>
                </a:solidFill>
                <a:latin typeface="맑은 고딕"/>
              </a:defRPr>
            </a:pPr>
            <a:r>
              <a:t>오늘 일정과 해야 할 일을 한 화면에 모음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938528"/>
            <a:ext cx="201168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77639" y="2249424"/>
            <a:ext cx="1143000" cy="292608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50791" y="2308860"/>
            <a:ext cx="99669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880" b="1">
                <a:solidFill>
                  <a:srgbClr val="5B6EE1"/>
                </a:solidFill>
                <a:latin typeface="맑은 고딕"/>
              </a:defRPr>
            </a:pPr>
            <a:r>
              <a:t>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8" y="2880360"/>
            <a:ext cx="1609344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350" b="1">
                <a:solidFill>
                  <a:srgbClr val="111827"/>
                </a:solidFill>
                <a:latin typeface="맑은 고딕"/>
              </a:defRPr>
            </a:pPr>
            <a:r>
              <a:t>주간 보드에서 시간과 목표를 함께 배치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938528"/>
            <a:ext cx="201168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37960" y="2249424"/>
            <a:ext cx="1143000" cy="292608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1112" y="2308860"/>
            <a:ext cx="99669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880" b="1">
                <a:solidFill>
                  <a:srgbClr val="5B6EE1"/>
                </a:solidFill>
                <a:latin typeface="맑은 고딕"/>
              </a:defRPr>
            </a:pPr>
            <a:r>
              <a:t>시작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880360"/>
            <a:ext cx="1609344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350" b="1">
                <a:solidFill>
                  <a:srgbClr val="111827"/>
                </a:solidFill>
                <a:latin typeface="맑은 고딕"/>
              </a:defRPr>
            </a:pPr>
            <a:r>
              <a:t>집중 모드로 지금 할 일에 진입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1938528"/>
            <a:ext cx="201168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98280" y="2249424"/>
            <a:ext cx="1143000" cy="292608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71432" y="2308860"/>
            <a:ext cx="99669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880" b="1">
                <a:solidFill>
                  <a:srgbClr val="5B6EE1"/>
                </a:solidFill>
                <a:latin typeface="맑은 고딕"/>
              </a:defRPr>
            </a:pPr>
            <a:r>
              <a:t>조정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880360"/>
            <a:ext cx="1609344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350" b="1">
                <a:solidFill>
                  <a:srgbClr val="111827"/>
                </a:solidFill>
                <a:latin typeface="맑은 고딕"/>
              </a:defRPr>
            </a:pPr>
            <a:r>
              <a:t>AI가 변경 후보를 제안하고 사용자가 승인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919472"/>
            <a:ext cx="950976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800" b="1">
                <a:solidFill>
                  <a:srgbClr val="283246"/>
                </a:solidFill>
                <a:latin typeface="맑은 고딕"/>
              </a:defRPr>
            </a:pPr>
            <a:r>
              <a:t>핵심은 더 많은 기능이 아니라, 사용자가 다시 해석해야 하는 맥락을 줄이는 것이다.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6446520"/>
            <a:ext cx="22860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6000"/>
              </a:lnSpc>
              <a:defRPr sz="750" b="0">
                <a:solidFill>
                  <a:srgbClr val="6B7280"/>
                </a:solidFill>
                <a:latin typeface="맑은 고딕"/>
              </a:defRPr>
            </a:pPr>
            <a:r>
              <a:t>문제해결프로그래밍 | 이근산 32183022 |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me-table-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0040"/>
            <a:ext cx="347472" cy="3474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7033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맑은 고딕"/>
              </a:defRPr>
            </a:pPr>
            <a:r>
              <a:t>Time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68680"/>
            <a:ext cx="676656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2800" b="1">
                <a:solidFill>
                  <a:srgbClr val="111827"/>
                </a:solidFill>
                <a:latin typeface="맑은 고딕"/>
              </a:defRPr>
            </a:pPr>
            <a:r>
              <a:t>화면 증거 1: 진입과 개인화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2668" y="1293876"/>
            <a:ext cx="4956048" cy="41330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831657"/>
            <a:ext cx="4892040" cy="305752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59068" y="1293876"/>
            <a:ext cx="4956048" cy="41330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-onboar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1831657"/>
            <a:ext cx="4892040" cy="30575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5669280"/>
            <a:ext cx="101498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150" b="0">
                <a:solidFill>
                  <a:srgbClr val="6B7280"/>
                </a:solidFill>
                <a:latin typeface="맑은 고딕"/>
              </a:defRPr>
            </a:pPr>
            <a:r>
              <a:t>로그인 화면은 '오늘 일정과 지금 할 일'이라는 문제를 바로 제시하고, 온보딩은 사용자의 생활 리듬을 받아 초기 시간표를 구성한다.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6446520"/>
            <a:ext cx="22860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6000"/>
              </a:lnSpc>
              <a:defRPr sz="750" b="0">
                <a:solidFill>
                  <a:srgbClr val="6B7280"/>
                </a:solidFill>
                <a:latin typeface="맑은 고딕"/>
              </a:defRPr>
            </a:pPr>
            <a:r>
              <a:t>문제해결프로그래밍 | 이근산 32183022 |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me-table-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0040"/>
            <a:ext cx="347472" cy="3474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7033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맑은 고딕"/>
              </a:defRPr>
            </a:pPr>
            <a:r>
              <a:t>Time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68680"/>
            <a:ext cx="676656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2800" b="1">
                <a:solidFill>
                  <a:srgbClr val="111827"/>
                </a:solidFill>
                <a:latin typeface="맑은 고딕"/>
              </a:defRPr>
            </a:pPr>
            <a:r>
              <a:t>화면 증거 2: 오늘 대시보드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2668" y="1266444"/>
            <a:ext cx="5870448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701355"/>
            <a:ext cx="5806440" cy="362902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059168" y="1463040"/>
            <a:ext cx="4206240" cy="4114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0" y="1783080"/>
            <a:ext cx="1234440" cy="292608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88352" y="1842516"/>
            <a:ext cx="108813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880" b="1">
                <a:solidFill>
                  <a:srgbClr val="5B6EE1"/>
                </a:solidFill>
                <a:latin typeface="맑은 고딕"/>
              </a:defRPr>
            </a:pPr>
            <a:r>
              <a:t>What it proves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2286000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0920" y="2386584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2276856"/>
            <a:ext cx="295351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현재 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2505456"/>
            <a:ext cx="295351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사용자가 지금 어디에 집중해야 하는지 확인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3127248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3227832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3118104"/>
            <a:ext cx="295351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오늘 요약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2127" y="3346704"/>
            <a:ext cx="295351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일정/할 일/목표 맥락을 한 화면에 압축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3968496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4069080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3959352"/>
            <a:ext cx="295351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AI 메모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187952"/>
            <a:ext cx="295351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다음 조정 판단을 보조하되 자동 반영하지 않음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6446520"/>
            <a:ext cx="22860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6000"/>
              </a:lnSpc>
              <a:defRPr sz="750" b="0">
                <a:solidFill>
                  <a:srgbClr val="6B7280"/>
                </a:solidFill>
                <a:latin typeface="맑은 고딕"/>
              </a:defRPr>
            </a:pPr>
            <a:r>
              <a:t>문제해결프로그래밍 | 이근산 32183022 |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me-table-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0040"/>
            <a:ext cx="347472" cy="3474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7033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맑은 고딕"/>
              </a:defRPr>
            </a:pPr>
            <a:r>
              <a:t>Time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68680"/>
            <a:ext cx="676656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2800" b="1">
                <a:solidFill>
                  <a:srgbClr val="111827"/>
                </a:solidFill>
                <a:latin typeface="맑은 고딕"/>
              </a:defRPr>
            </a:pPr>
            <a:r>
              <a:t>화면 증거 3: 주간 일정 보드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7803" y="1202436"/>
            <a:ext cx="6647688" cy="4681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-sched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485900"/>
            <a:ext cx="6583680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417320"/>
            <a:ext cx="3429000" cy="4251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874519"/>
            <a:ext cx="28346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800" b="1">
                <a:solidFill>
                  <a:srgbClr val="111827"/>
                </a:solidFill>
                <a:latin typeface="맑은 고딕"/>
              </a:defRPr>
            </a:pPr>
            <a:r>
              <a:t>주간 보드는 하루 단위 목록이 아니라, 일정과 루틴을 함께 배치하는 실행 지도다.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28431" y="3154680"/>
            <a:ext cx="274320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00" b="0">
                <a:solidFill>
                  <a:srgbClr val="6B7280"/>
                </a:solidFill>
                <a:latin typeface="맑은 고딕"/>
              </a:defRPr>
            </a:pPr>
            <a:r>
              <a:t>발표 리허설, 보고서 정리, 제출 체크 같은 mock data를 넣어 실제 데모 상황처럼 캡처했다.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4389120"/>
            <a:ext cx="1143000" cy="292608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6" y="4448556"/>
            <a:ext cx="99669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880" b="1">
                <a:solidFill>
                  <a:srgbClr val="5B6EE1"/>
                </a:solidFill>
                <a:latin typeface="맑은 고딕"/>
              </a:defRPr>
            </a:pPr>
            <a:r>
              <a:t>Latest 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6446520"/>
            <a:ext cx="22860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6000"/>
              </a:lnSpc>
              <a:defRPr sz="750" b="0">
                <a:solidFill>
                  <a:srgbClr val="6B7280"/>
                </a:solidFill>
                <a:latin typeface="맑은 고딕"/>
              </a:defRPr>
            </a:pPr>
            <a:r>
              <a:t>문제해결프로그래밍 | 이근산 32183022 |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me-table-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0040"/>
            <a:ext cx="347472" cy="3474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7033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맑은 고딕"/>
              </a:defRPr>
            </a:pPr>
            <a:r>
              <a:t>Time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68680"/>
            <a:ext cx="676656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2800" b="1">
                <a:solidFill>
                  <a:srgbClr val="111827"/>
                </a:solidFill>
                <a:latin typeface="맑은 고딕"/>
              </a:defRPr>
            </a:pPr>
            <a:r>
              <a:t>화면 증거 4: 직접 수정과 집중 실행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956" y="1339596"/>
            <a:ext cx="4818888" cy="4178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-schedule-add-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43100"/>
            <a:ext cx="4754880" cy="2971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31636" y="1339596"/>
            <a:ext cx="4818888" cy="4178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-foc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43100"/>
            <a:ext cx="4754880" cy="2971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5715000"/>
            <a:ext cx="101498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150" b="0">
                <a:solidFill>
                  <a:srgbClr val="6B7280"/>
                </a:solidFill>
                <a:latin typeface="맑은 고딕"/>
              </a:defRPr>
            </a:pPr>
            <a:r>
              <a:t>일정 추가 모달은 사용자가 직접 통제하는 수정 흐름을 보여주고, 집중 모드는 현재 실행 항목을 크게 드러내 시작 비용을 낮춘다.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6446520"/>
            <a:ext cx="22860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6000"/>
              </a:lnSpc>
              <a:defRPr sz="750" b="0">
                <a:solidFill>
                  <a:srgbClr val="6B7280"/>
                </a:solidFill>
                <a:latin typeface="맑은 고딕"/>
              </a:defRPr>
            </a:pPr>
            <a:r>
              <a:t>문제해결프로그래밍 | 이근산 32183022 |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me-table-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0040"/>
            <a:ext cx="347472" cy="3474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7033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맑은 고딕"/>
              </a:defRPr>
            </a:pPr>
            <a:r>
              <a:t>Time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68680"/>
            <a:ext cx="676656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2800" b="1">
                <a:solidFill>
                  <a:srgbClr val="111827"/>
                </a:solidFill>
                <a:latin typeface="맑은 고딕"/>
              </a:defRPr>
            </a:pPr>
            <a:r>
              <a:t>구현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63040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63624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145389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1682496"/>
            <a:ext cx="487375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Next.js App Router, React, TypeScript, Zustand 기반 화면 구현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176272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76856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16712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2395728"/>
            <a:ext cx="487375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Spring Boot, JPA, Flyway 기반 일정/목표/태스크 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889504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90088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288036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4168" y="3108960"/>
            <a:ext cx="487375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로컬 테스트는 H2, 운영 전환은 PostgreSQL을 고려한 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602736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03320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4168" y="3593592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Integration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3822191"/>
            <a:ext cx="487375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Google Calendar/Tasks 동기화 구조와 mock 데모 모드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315968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416552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4168" y="430682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4168" y="4535424"/>
            <a:ext cx="487375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Gemini 기반 일정 정규화/재조율 제안, 사용자 승인 중심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29400" y="1463040"/>
            <a:ext cx="4389120" cy="4206240"/>
          </a:xfrm>
          <a:prstGeom prst="roundRect">
            <a:avLst/>
          </a:prstGeom>
          <a:solidFill>
            <a:srgbClr val="283246"/>
          </a:solidFill>
          <a:ln w="1016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5160" y="1828800"/>
            <a:ext cx="310896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Trust boundary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5160" y="2487168"/>
            <a:ext cx="3383280" cy="1143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700" b="1">
                <a:solidFill>
                  <a:srgbClr val="FFFFFF"/>
                </a:solidFill>
                <a:latin typeface="맑은 고딕"/>
              </a:defRPr>
            </a:pPr>
            <a:r>
              <a:t>AI는 변경 후보를 만들 수 있지만,</a:t>
            </a:r>
          </a:p>
          <a:p>
            <a:pPr>
              <a:lnSpc>
                <a:spcPct val="106000"/>
              </a:lnSpc>
              <a:defRPr sz="1700" b="1">
                <a:solidFill>
                  <a:srgbClr val="FFFFFF"/>
                </a:solidFill>
                <a:latin typeface="맑은 고딕"/>
              </a:defRPr>
            </a:pPr>
            <a:r>
              <a:t>중요한 일정 변경과 Google 반영은</a:t>
            </a:r>
          </a:p>
          <a:p>
            <a:pPr>
              <a:lnSpc>
                <a:spcPct val="106000"/>
              </a:lnSpc>
              <a:defRPr sz="1700" b="1">
                <a:solidFill>
                  <a:srgbClr val="FFFFFF"/>
                </a:solidFill>
                <a:latin typeface="맑은 고딕"/>
              </a:defRPr>
            </a:pPr>
            <a:r>
              <a:t>사용자 승인 없이 조용히 실행하지 않는다.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4434840"/>
            <a:ext cx="3291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100" b="0">
                <a:solidFill>
                  <a:srgbClr val="F8C66B"/>
                </a:solidFill>
                <a:latin typeface="맑은 고딕"/>
              </a:defRPr>
            </a:pPr>
            <a:r>
              <a:t>자동화보다 신뢰가 먼저라는 설계 원칙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6446520"/>
            <a:ext cx="22860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6000"/>
              </a:lnSpc>
              <a:defRPr sz="750" b="0">
                <a:solidFill>
                  <a:srgbClr val="6B7280"/>
                </a:solidFill>
                <a:latin typeface="맑은 고딕"/>
              </a:defRPr>
            </a:pPr>
            <a:r>
              <a:t>문제해결프로그래밍 | 이근산 32183022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me-table-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0040"/>
            <a:ext cx="347472" cy="3474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7033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맑은 고딕"/>
              </a:defRPr>
            </a:pPr>
            <a:r>
              <a:t>Time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68680"/>
            <a:ext cx="676656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2800" b="1">
                <a:solidFill>
                  <a:srgbClr val="111827"/>
                </a:solidFill>
                <a:latin typeface="맑은 고딕"/>
              </a:defRPr>
            </a:pPr>
            <a:r>
              <a:t>현재 상태와 남은 작업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5074920" cy="4251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1783080"/>
            <a:ext cx="1783080" cy="292608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1842516"/>
            <a:ext cx="163677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880" b="1">
                <a:solidFill>
                  <a:srgbClr val="5B6EE1"/>
                </a:solidFill>
                <a:latin typeface="맑은 고딕"/>
              </a:defRPr>
            </a:pPr>
            <a:r>
              <a:t>Implemented / demo-ready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240280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340864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231136"/>
            <a:ext cx="3593591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로그인/온보딩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7" y="2459736"/>
            <a:ext cx="3593591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mock login으로 데모 가능한 개인화 흐름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2916936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017520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7" y="2907792"/>
            <a:ext cx="3593591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7" y="3136392"/>
            <a:ext cx="3593591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오늘 일정, 할 일, 목표, AI 메모 요약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3593592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694176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7" y="3584448"/>
            <a:ext cx="3593591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주간 일정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7" y="3813048"/>
            <a:ext cx="3593591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일정 블록 생성/수정과 responsive visual QA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4270248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370832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7" y="4261104"/>
            <a:ext cx="3593591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집중 모드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4207" y="4489704"/>
            <a:ext cx="3593591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현재 실행 항목과 다음 전환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1463040"/>
            <a:ext cx="4754880" cy="4251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629400" y="1783080"/>
            <a:ext cx="1280160" cy="292608"/>
          </a:xfrm>
          <a:prstGeom prst="roundRect">
            <a:avLst/>
          </a:prstGeom>
          <a:solidFill>
            <a:srgbClr val="FFF6DA"/>
          </a:solidFill>
          <a:ln w="10160">
            <a:solidFill>
              <a:srgbClr val="FFF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02552" y="1842516"/>
            <a:ext cx="1133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880" b="1">
                <a:solidFill>
                  <a:srgbClr val="A16207"/>
                </a:solidFill>
                <a:latin typeface="맑은 고딕"/>
              </a:defRPr>
            </a:pPr>
            <a:r>
              <a:t>Remaining work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2240280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2340864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96328" y="2231136"/>
            <a:ext cx="3364991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실서비스 인증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2459736"/>
            <a:ext cx="3364991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실제 Google OAuth/권한 정책 정리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29400" y="2916936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3017520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96328" y="2907792"/>
            <a:ext cx="3364991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동기화 안정성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96328" y="3136392"/>
            <a:ext cx="3364991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충돌/웹훅/재시도 케이스 추가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29400" y="3593592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3694176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96328" y="3584448"/>
            <a:ext cx="3364991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AI 품질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96328" y="3813048"/>
            <a:ext cx="3364991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제안 정확도와 설명 품질에 대한 반복 평가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29400" y="4270248"/>
            <a:ext cx="438912" cy="438912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4370832"/>
            <a:ext cx="347472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1000" b="1">
                <a:solidFill>
                  <a:srgbClr val="5B6EE1"/>
                </a:solidFill>
                <a:latin typeface="맑은 고딕"/>
              </a:defRPr>
            </a:pPr>
            <a: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96328" y="4261104"/>
            <a:ext cx="3364991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250" b="1">
                <a:solidFill>
                  <a:srgbClr val="111827"/>
                </a:solidFill>
                <a:latin typeface="맑은 고딕"/>
              </a:defRPr>
            </a:pPr>
            <a:r>
              <a:t>배포 운영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96328" y="4489704"/>
            <a:ext cx="3364991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950" b="0">
                <a:solidFill>
                  <a:srgbClr val="6B7280"/>
                </a:solidFill>
                <a:latin typeface="맑은 고딕"/>
              </a:defRPr>
            </a:pPr>
            <a:r>
              <a:t>환경변수, 비밀 관리, 공개 저장소 제출 점검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6446520"/>
            <a:ext cx="22860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6000"/>
              </a:lnSpc>
              <a:defRPr sz="750" b="0">
                <a:solidFill>
                  <a:srgbClr val="6B7280"/>
                </a:solidFill>
                <a:latin typeface="맑은 고딕"/>
              </a:defRPr>
            </a:pPr>
            <a:r>
              <a:t>문제해결프로그래밍 | 이근산 32183022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me-table-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0040"/>
            <a:ext cx="347472" cy="3474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7033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맑은 고딕"/>
              </a:defRPr>
            </a:pPr>
            <a:r>
              <a:t>Time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68680"/>
            <a:ext cx="676656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2800" b="1">
                <a:solidFill>
                  <a:srgbClr val="111827"/>
                </a:solidFill>
                <a:latin typeface="맑은 고딕"/>
              </a:defRPr>
            </a:pPr>
            <a:r>
              <a:t>데모와 제출 계획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21208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1737360"/>
            <a:ext cx="960120" cy="292608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1796795"/>
            <a:ext cx="81381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880" b="1">
                <a:solidFill>
                  <a:srgbClr val="5B6EE1"/>
                </a:solidFill>
                <a:latin typeface="맑은 고딕"/>
              </a:defRPr>
            </a:pPr>
            <a:r>
              <a:t>Live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240280"/>
            <a:ext cx="4297680" cy="1508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600" b="1">
                <a:solidFill>
                  <a:srgbClr val="111827"/>
                </a:solidFill>
                <a:latin typeface="맑은 고딕"/>
              </a:defRPr>
            </a:pPr>
            <a:r>
              <a:t>1분 문제 상황 설명</a:t>
            </a:r>
          </a:p>
          <a:p>
            <a:pPr>
              <a:lnSpc>
                <a:spcPct val="106000"/>
              </a:lnSpc>
              <a:defRPr sz="1600" b="1">
                <a:solidFill>
                  <a:srgbClr val="111827"/>
                </a:solidFill>
                <a:latin typeface="맑은 고딕"/>
              </a:defRPr>
            </a:pPr>
            <a:r>
              <a:t>30초 로그인/온보딩</a:t>
            </a:r>
          </a:p>
          <a:p>
            <a:pPr>
              <a:lnSpc>
                <a:spcPct val="106000"/>
              </a:lnSpc>
              <a:defRPr sz="1600" b="1">
                <a:solidFill>
                  <a:srgbClr val="111827"/>
                </a:solidFill>
                <a:latin typeface="맑은 고딕"/>
              </a:defRPr>
            </a:pPr>
            <a:r>
              <a:t>1분 대시보드와 mock data 확인</a:t>
            </a:r>
          </a:p>
          <a:p>
            <a:pPr>
              <a:lnSpc>
                <a:spcPct val="106000"/>
              </a:lnSpc>
              <a:defRPr sz="1600" b="1">
                <a:solidFill>
                  <a:srgbClr val="111827"/>
                </a:solidFill>
                <a:latin typeface="맑은 고딕"/>
              </a:defRPr>
            </a:pPr>
            <a:r>
              <a:t>1분 주간 일정/추가 모달</a:t>
            </a:r>
          </a:p>
          <a:p>
            <a:pPr>
              <a:lnSpc>
                <a:spcPct val="106000"/>
              </a:lnSpc>
              <a:defRPr sz="1600" b="1">
                <a:solidFill>
                  <a:srgbClr val="111827"/>
                </a:solidFill>
                <a:latin typeface="맑은 고딕"/>
              </a:defRPr>
            </a:pPr>
            <a:r>
              <a:t>30초 집중 모드</a:t>
            </a:r>
          </a:p>
          <a:p>
            <a:pPr>
              <a:lnSpc>
                <a:spcPct val="106000"/>
              </a:lnSpc>
              <a:defRPr sz="1600" b="1">
                <a:solidFill>
                  <a:srgbClr val="111827"/>
                </a:solidFill>
                <a:latin typeface="맑은 고딕"/>
              </a:defRPr>
            </a:pPr>
            <a:r>
              <a:t>30초 남은 작업과 제출 안내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343400"/>
            <a:ext cx="41148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150" b="0">
                <a:solidFill>
                  <a:srgbClr val="6B7280"/>
                </a:solidFill>
                <a:latin typeface="맑은 고딕"/>
              </a:defRPr>
            </a:pPr>
            <a:r>
              <a:t>배포 링크는 보조 수단이다. 발표 중에는 직접 화면을 열어 흐름을 보여준다.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417320"/>
            <a:ext cx="470916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93408" y="1737360"/>
            <a:ext cx="960120" cy="292608"/>
          </a:xfrm>
          <a:prstGeom prst="roundRect">
            <a:avLst/>
          </a:prstGeom>
          <a:solidFill>
            <a:srgbClr val="ECEFFE"/>
          </a:solidFill>
          <a:ln w="10160">
            <a:solidFill>
              <a:srgbClr val="ECEF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1796795"/>
            <a:ext cx="81381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6000"/>
              </a:lnSpc>
              <a:defRPr sz="880" b="1">
                <a:solidFill>
                  <a:srgbClr val="5B6EE1"/>
                </a:solidFill>
                <a:latin typeface="맑은 고딕"/>
              </a:defRPr>
            </a:pPr>
            <a:r>
              <a:t>Submission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240280"/>
            <a:ext cx="3886200" cy="1143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600" b="1">
                <a:solidFill>
                  <a:srgbClr val="111827"/>
                </a:solidFill>
                <a:latin typeface="맑은 고딕"/>
              </a:defRPr>
            </a:pPr>
            <a:r>
              <a:t>PPT 제출</a:t>
            </a:r>
          </a:p>
          <a:p>
            <a:pPr>
              <a:lnSpc>
                <a:spcPct val="106000"/>
              </a:lnSpc>
              <a:defRPr sz="1600" b="1">
                <a:solidFill>
                  <a:srgbClr val="111827"/>
                </a:solidFill>
                <a:latin typeface="맑은 고딕"/>
              </a:defRPr>
            </a:pPr>
            <a:r>
              <a:t>Source code 제출</a:t>
            </a:r>
          </a:p>
          <a:p>
            <a:pPr>
              <a:lnSpc>
                <a:spcPct val="106000"/>
              </a:lnSpc>
              <a:defRPr sz="1600" b="1">
                <a:solidFill>
                  <a:srgbClr val="111827"/>
                </a:solidFill>
                <a:latin typeface="맑은 고딕"/>
              </a:defRPr>
            </a:pPr>
            <a:r>
              <a:t>GitHub 공개 저장소</a:t>
            </a:r>
          </a:p>
          <a:p>
            <a:pPr>
              <a:lnSpc>
                <a:spcPct val="106000"/>
              </a:lnSpc>
              <a:defRPr sz="1600" b="1">
                <a:solidFill>
                  <a:srgbClr val="111827"/>
                </a:solidFill>
                <a:latin typeface="맑은 고딕"/>
              </a:defRPr>
            </a:pPr>
            <a:r>
              <a:t>https://github.com/GomGomi907/time_table.git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069080"/>
            <a:ext cx="37947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6000"/>
              </a:lnSpc>
              <a:defRPr sz="1150" b="0">
                <a:solidFill>
                  <a:srgbClr val="6B7280"/>
                </a:solidFill>
                <a:latin typeface="맑은 고딕"/>
              </a:defRPr>
            </a:pPr>
            <a:r>
              <a:t>.env, .local, node_modules, build output, 개인 시크릿은 제출/공개 대상에서 제외한다.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6446520"/>
            <a:ext cx="22860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6000"/>
              </a:lnSpc>
              <a:defRPr sz="750" b="0">
                <a:solidFill>
                  <a:srgbClr val="6B7280"/>
                </a:solidFill>
                <a:latin typeface="맑은 고딕"/>
              </a:defRPr>
            </a:pPr>
            <a:r>
              <a:t>문제해결프로그래밍 | 이근산 32183022 |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